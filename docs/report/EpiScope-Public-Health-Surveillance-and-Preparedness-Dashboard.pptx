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rimo" panose="020B0604020202020204" charset="0"/>
      <p:regular r:id="rId19"/>
    </p:embeddedFont>
    <p:embeddedFont>
      <p:font typeface="Arimo Bold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Roboto Mono Bold" panose="020B0604020202020204" charset="0"/>
      <p:regular r:id="rId25"/>
    </p:embeddedFont>
    <p:embeddedFont>
      <p:font typeface="Roboto Mono Medium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21F"/>
    <a:srgbClr val="2E5A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2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EpiScope project: a distributed pipeline and dashboard prototype designed for large-scale synthetic disease surveillance and public health preparedness planning.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Discuss the surveillance gap: multi-source encounter data arrives with reporting lags and formatting discrepancies, preventing timely outbreak response unless cleaned systematically.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Review the six core engineering and analytical goals, framing the transition from distributed backend pipelines to analytical outputs and front-end surveillance interfaces.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Detail the Medallion flow from raw encounters to D3 export, highlighting explicitly that inventory runs as an uncoupled parallel path rather than an automated operational driver.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Summarize the exact seven technology components used across compute, storage, orchestration, and frontend delivery.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data accounting: 25M total synthetic encounters, 24.8M clean records passing to Gold, and 174,790 quarantined rows isolated by data quality rules.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 the primary Case Trends visualization. Emphasize that counts between 1 and 4 are suppressed to demonstrate privacy-preserving reporting policies on synthetic encounter data.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district comparison view, highlighting Gazipur's ranking and reiterating the critical caveat that raw totals are unadjusted for district baseline populations.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Chuadanga Dengue outbreak signals in the table. Stress the statistical realities: 52.92% sensitivity, 4.37% FPR, and 0.74% precision, proving why human review is indispensable.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Examine the Bagerhat seasonal planning matrix, showing how peak-month flags guide supply buffers and reminding evaluators that all recommendations are synthetic demonstrations.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15095" y="1873758"/>
            <a:ext cx="16471659" cy="241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19"/>
              </a:lnSpc>
            </a:pPr>
            <a:r>
              <a:rPr lang="en-US" sz="10000" b="1" spc="-18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EpiScope</a:t>
            </a:r>
            <a:r>
              <a:rPr lang="en-US" sz="10000" b="1" spc="-18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Public Health Surveillance &amp; Preparedness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5095" y="5625036"/>
            <a:ext cx="4117915" cy="76114"/>
            <a:chOff x="0" y="0"/>
            <a:chExt cx="5490553" cy="1014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90591" cy="101600"/>
            </a:xfrm>
            <a:custGeom>
              <a:avLst/>
              <a:gdLst/>
              <a:ahLst/>
              <a:cxnLst/>
              <a:rect l="l" t="t" r="r" b="b"/>
              <a:pathLst>
                <a:path w="5490591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5439791" y="0"/>
                  </a:lnTo>
                  <a:cubicBezTo>
                    <a:pt x="5467858" y="0"/>
                    <a:pt x="5490591" y="22733"/>
                    <a:pt x="5490591" y="50800"/>
                  </a:cubicBezTo>
                  <a:cubicBezTo>
                    <a:pt x="5490591" y="78867"/>
                    <a:pt x="5467858" y="101600"/>
                    <a:pt x="5439791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915095" y="6263745"/>
            <a:ext cx="16471659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Synthetic disease encounter processing, anomaly signals, and seasonal planning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5095" y="7704039"/>
            <a:ext cx="3417741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Robiul Hassan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5095" y="8421338"/>
            <a:ext cx="3760899" cy="36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0222220005101043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19151" y="7704039"/>
            <a:ext cx="3431591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Md. Samin Osman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19151" y="8421338"/>
            <a:ext cx="3431591" cy="71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0222220005101042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37066" y="7704039"/>
            <a:ext cx="3788607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Md. Mahafujul Alam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37066" y="8421338"/>
            <a:ext cx="3788607" cy="71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0222220005101066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11997" y="7704039"/>
            <a:ext cx="3774758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Walid Talal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11997" y="8421338"/>
            <a:ext cx="3774758" cy="71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ID: 0222220005101045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666459" y="7730223"/>
            <a:ext cx="19069" cy="1403947"/>
            <a:chOff x="0" y="0"/>
            <a:chExt cx="25425" cy="18719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400" cy="1871980"/>
            </a:xfrm>
            <a:custGeom>
              <a:avLst/>
              <a:gdLst/>
              <a:ahLst/>
              <a:cxnLst/>
              <a:rect l="l" t="t" r="r" b="b"/>
              <a:pathLst>
                <a:path w="25400" h="1871980">
                  <a:moveTo>
                    <a:pt x="0" y="0"/>
                  </a:moveTo>
                  <a:lnTo>
                    <a:pt x="25400" y="0"/>
                  </a:lnTo>
                  <a:lnTo>
                    <a:pt x="25400" y="1871980"/>
                  </a:lnTo>
                  <a:lnTo>
                    <a:pt x="0" y="187198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784374" y="7730223"/>
            <a:ext cx="19069" cy="1403947"/>
            <a:chOff x="0" y="0"/>
            <a:chExt cx="25425" cy="18719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400" cy="1871980"/>
            </a:xfrm>
            <a:custGeom>
              <a:avLst/>
              <a:gdLst/>
              <a:ahLst/>
              <a:cxnLst/>
              <a:rect l="l" t="t" r="r" b="b"/>
              <a:pathLst>
                <a:path w="25400" h="1871980">
                  <a:moveTo>
                    <a:pt x="0" y="0"/>
                  </a:moveTo>
                  <a:lnTo>
                    <a:pt x="25400" y="0"/>
                  </a:lnTo>
                  <a:lnTo>
                    <a:pt x="25400" y="1871980"/>
                  </a:lnTo>
                  <a:lnTo>
                    <a:pt x="0" y="187198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3259305" y="7730223"/>
            <a:ext cx="19069" cy="1403947"/>
            <a:chOff x="0" y="0"/>
            <a:chExt cx="25425" cy="187192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400" cy="1871980"/>
            </a:xfrm>
            <a:custGeom>
              <a:avLst/>
              <a:gdLst/>
              <a:ahLst/>
              <a:cxnLst/>
              <a:rect l="l" t="t" r="r" b="b"/>
              <a:pathLst>
                <a:path w="25400" h="1871980">
                  <a:moveTo>
                    <a:pt x="0" y="0"/>
                  </a:moveTo>
                  <a:lnTo>
                    <a:pt x="25400" y="0"/>
                  </a:lnTo>
                  <a:lnTo>
                    <a:pt x="25400" y="1871980"/>
                  </a:lnTo>
                  <a:lnTo>
                    <a:pt x="0" y="187198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62581" y="1562100"/>
            <a:ext cx="17539268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 dirty="0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CHALLENGE &amp; MOTIVATION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581" y="2127514"/>
            <a:ext cx="16776687" cy="67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Late, messy data makes early detection hard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581" y="2987145"/>
            <a:ext cx="16776687" cy="98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Public health teams require interpretable early signals while operating under real-world data imperfections.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62581" y="4326684"/>
            <a:ext cx="5287099" cy="4039076"/>
            <a:chOff x="0" y="0"/>
            <a:chExt cx="7049465" cy="53854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49389" cy="5385435"/>
            </a:xfrm>
            <a:custGeom>
              <a:avLst/>
              <a:gdLst/>
              <a:ahLst/>
              <a:cxnLst/>
              <a:rect l="l" t="t" r="r" b="b"/>
              <a:pathLst>
                <a:path w="7049389" h="5385435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805422" y="0"/>
                  </a:lnTo>
                  <a:cubicBezTo>
                    <a:pt x="6940169" y="0"/>
                    <a:pt x="7049389" y="109220"/>
                    <a:pt x="7049389" y="243967"/>
                  </a:cubicBezTo>
                  <a:lnTo>
                    <a:pt x="7049389" y="5141468"/>
                  </a:lnTo>
                  <a:cubicBezTo>
                    <a:pt x="7049389" y="5276215"/>
                    <a:pt x="6940169" y="5385435"/>
                    <a:pt x="6805422" y="5385435"/>
                  </a:cubicBezTo>
                  <a:lnTo>
                    <a:pt x="243967" y="5385435"/>
                  </a:lnTo>
                  <a:cubicBezTo>
                    <a:pt x="109220" y="5385435"/>
                    <a:pt x="0" y="5276215"/>
                    <a:pt x="0" y="5141468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43867" y="4719933"/>
            <a:ext cx="4524527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Reporting delays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867" y="5416163"/>
            <a:ext cx="4524527" cy="2041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originating from disparate health facilities arrives asynchronously, creating variable lag that obscures acute transmission spikes.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07223" y="4326684"/>
            <a:ext cx="5287251" cy="4039076"/>
            <a:chOff x="0" y="0"/>
            <a:chExt cx="7049668" cy="53854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49643" cy="5385435"/>
            </a:xfrm>
            <a:custGeom>
              <a:avLst/>
              <a:gdLst/>
              <a:ahLst/>
              <a:cxnLst/>
              <a:rect l="l" t="t" r="r" b="b"/>
              <a:pathLst>
                <a:path w="7049643" h="5385435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805676" y="0"/>
                  </a:lnTo>
                  <a:cubicBezTo>
                    <a:pt x="6940423" y="0"/>
                    <a:pt x="7049643" y="109220"/>
                    <a:pt x="7049643" y="243967"/>
                  </a:cubicBezTo>
                  <a:lnTo>
                    <a:pt x="7049643" y="5141468"/>
                  </a:lnTo>
                  <a:cubicBezTo>
                    <a:pt x="7049643" y="5276215"/>
                    <a:pt x="6940423" y="5385435"/>
                    <a:pt x="6805676" y="5385435"/>
                  </a:cubicBezTo>
                  <a:lnTo>
                    <a:pt x="243967" y="5385435"/>
                  </a:lnTo>
                  <a:cubicBezTo>
                    <a:pt x="109220" y="5385435"/>
                    <a:pt x="0" y="5276215"/>
                    <a:pt x="0" y="5141468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888509" y="4719933"/>
            <a:ext cx="4524670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Inconsistent data quality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88509" y="5416163"/>
            <a:ext cx="4524670" cy="2041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Incoming encounter records contain malformed schemas, missing fields, and duplicates that corrupt downstream surveillance metrics.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252017" y="4326684"/>
            <a:ext cx="5287251" cy="4039076"/>
            <a:chOff x="0" y="0"/>
            <a:chExt cx="7049668" cy="53854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49643" cy="5385435"/>
            </a:xfrm>
            <a:custGeom>
              <a:avLst/>
              <a:gdLst/>
              <a:ahLst/>
              <a:cxnLst/>
              <a:rect l="l" t="t" r="r" b="b"/>
              <a:pathLst>
                <a:path w="7049643" h="5385435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805676" y="0"/>
                  </a:lnTo>
                  <a:cubicBezTo>
                    <a:pt x="6940423" y="0"/>
                    <a:pt x="7049643" y="109220"/>
                    <a:pt x="7049643" y="243967"/>
                  </a:cubicBezTo>
                  <a:lnTo>
                    <a:pt x="7049643" y="5141468"/>
                  </a:lnTo>
                  <a:cubicBezTo>
                    <a:pt x="7049643" y="5276215"/>
                    <a:pt x="6940423" y="5385435"/>
                    <a:pt x="6805676" y="5385435"/>
                  </a:cubicBezTo>
                  <a:lnTo>
                    <a:pt x="243967" y="5385435"/>
                  </a:lnTo>
                  <a:cubicBezTo>
                    <a:pt x="109220" y="5385435"/>
                    <a:pt x="0" y="5276215"/>
                    <a:pt x="0" y="5141468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633303" y="4719933"/>
            <a:ext cx="4524670" cy="102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Decision-maker constraints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33303" y="5911853"/>
            <a:ext cx="4524670" cy="2041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Epidemiologists need transparent anomaly indicators with explicit boundaries, not black-box predictions that trigger false alarms.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7704441" y="9797415"/>
            <a:ext cx="597398" cy="308762"/>
            <a:chOff x="0" y="0"/>
            <a:chExt cx="796531" cy="41168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96534" cy="411682"/>
            </a:xfrm>
            <a:custGeom>
              <a:avLst/>
              <a:gdLst/>
              <a:ahLst/>
              <a:cxnLst/>
              <a:rect l="l" t="t" r="r" b="b"/>
              <a:pathLst>
                <a:path w="796534" h="411682">
                  <a:moveTo>
                    <a:pt x="0" y="0"/>
                  </a:moveTo>
                  <a:lnTo>
                    <a:pt x="796534" y="0"/>
                  </a:lnTo>
                  <a:lnTo>
                    <a:pt x="796534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12" r="-1631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96531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62581" y="476641"/>
            <a:ext cx="17539268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PROJECT SCOPE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581" y="1042045"/>
            <a:ext cx="16776687" cy="67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Six objectives guided the project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581" y="1924507"/>
            <a:ext cx="5363356" cy="3708568"/>
            <a:chOff x="0" y="0"/>
            <a:chExt cx="7151141" cy="49447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51116" cy="4944745"/>
            </a:xfrm>
            <a:custGeom>
              <a:avLst/>
              <a:gdLst/>
              <a:ahLst/>
              <a:cxnLst/>
              <a:rect l="l" t="t" r="r" b="b"/>
              <a:pathLst>
                <a:path w="7151116" h="4944745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907149" y="0"/>
                  </a:lnTo>
                  <a:cubicBezTo>
                    <a:pt x="7041896" y="0"/>
                    <a:pt x="7151116" y="109220"/>
                    <a:pt x="7151116" y="243967"/>
                  </a:cubicBezTo>
                  <a:lnTo>
                    <a:pt x="7151116" y="4700778"/>
                  </a:lnTo>
                  <a:cubicBezTo>
                    <a:pt x="7151116" y="4835525"/>
                    <a:pt x="7041896" y="4944745"/>
                    <a:pt x="6907149" y="4944745"/>
                  </a:cubicBezTo>
                  <a:lnTo>
                    <a:pt x="243967" y="4944745"/>
                  </a:lnTo>
                  <a:cubicBezTo>
                    <a:pt x="109220" y="4944745"/>
                    <a:pt x="0" y="4835525"/>
                    <a:pt x="0" y="4700778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05738" y="2229545"/>
            <a:ext cx="600532" cy="600542"/>
            <a:chOff x="0" y="0"/>
            <a:chExt cx="800710" cy="8007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735" cy="800735"/>
            </a:xfrm>
            <a:custGeom>
              <a:avLst/>
              <a:gdLst/>
              <a:ahLst/>
              <a:cxnLst/>
              <a:rect l="l" t="t" r="r" b="b"/>
              <a:pathLst>
                <a:path w="800735" h="800735">
                  <a:moveTo>
                    <a:pt x="0" y="400304"/>
                  </a:moveTo>
                  <a:cubicBezTo>
                    <a:pt x="0" y="179197"/>
                    <a:pt x="179197" y="0"/>
                    <a:pt x="400304" y="0"/>
                  </a:cubicBezTo>
                  <a:cubicBezTo>
                    <a:pt x="621411" y="0"/>
                    <a:pt x="800735" y="179197"/>
                    <a:pt x="800735" y="400304"/>
                  </a:cubicBezTo>
                  <a:cubicBezTo>
                    <a:pt x="800735" y="621411"/>
                    <a:pt x="621411" y="800735"/>
                    <a:pt x="400304" y="800735"/>
                  </a:cubicBezTo>
                  <a:cubicBezTo>
                    <a:pt x="179197" y="800735"/>
                    <a:pt x="0" y="621538"/>
                    <a:pt x="0" y="400304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32630" y="2396338"/>
            <a:ext cx="1261824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5738" y="2923070"/>
            <a:ext cx="4677042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Scale processing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5738" y="3619300"/>
            <a:ext cx="4677042" cy="124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Demonstrate scalable processing across multi-million-row synthetic encounter datasets.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83480" y="1924507"/>
            <a:ext cx="5134737" cy="3708568"/>
            <a:chOff x="0" y="0"/>
            <a:chExt cx="6846316" cy="49447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46316" cy="4944745"/>
            </a:xfrm>
            <a:custGeom>
              <a:avLst/>
              <a:gdLst/>
              <a:ahLst/>
              <a:cxnLst/>
              <a:rect l="l" t="t" r="r" b="b"/>
              <a:pathLst>
                <a:path w="6846316" h="4944745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602349" y="0"/>
                  </a:lnTo>
                  <a:cubicBezTo>
                    <a:pt x="6737096" y="0"/>
                    <a:pt x="6846316" y="109220"/>
                    <a:pt x="6846316" y="243967"/>
                  </a:cubicBezTo>
                  <a:lnTo>
                    <a:pt x="6846316" y="4700778"/>
                  </a:lnTo>
                  <a:cubicBezTo>
                    <a:pt x="6846316" y="4835525"/>
                    <a:pt x="6737096" y="4944745"/>
                    <a:pt x="6602349" y="4944745"/>
                  </a:cubicBezTo>
                  <a:lnTo>
                    <a:pt x="243967" y="4944745"/>
                  </a:lnTo>
                  <a:cubicBezTo>
                    <a:pt x="109220" y="4944745"/>
                    <a:pt x="0" y="4835525"/>
                    <a:pt x="0" y="4700778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6926637" y="2229545"/>
            <a:ext cx="600532" cy="600542"/>
            <a:chOff x="0" y="0"/>
            <a:chExt cx="800710" cy="8007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00735" cy="800735"/>
            </a:xfrm>
            <a:custGeom>
              <a:avLst/>
              <a:gdLst/>
              <a:ahLst/>
              <a:cxnLst/>
              <a:rect l="l" t="t" r="r" b="b"/>
              <a:pathLst>
                <a:path w="800735" h="800735">
                  <a:moveTo>
                    <a:pt x="0" y="400304"/>
                  </a:moveTo>
                  <a:cubicBezTo>
                    <a:pt x="0" y="179197"/>
                    <a:pt x="179197" y="0"/>
                    <a:pt x="400304" y="0"/>
                  </a:cubicBezTo>
                  <a:cubicBezTo>
                    <a:pt x="621411" y="0"/>
                    <a:pt x="800735" y="179197"/>
                    <a:pt x="800735" y="400304"/>
                  </a:cubicBezTo>
                  <a:cubicBezTo>
                    <a:pt x="800735" y="621411"/>
                    <a:pt x="621411" y="800735"/>
                    <a:pt x="400304" y="800735"/>
                  </a:cubicBezTo>
                  <a:cubicBezTo>
                    <a:pt x="179197" y="800735"/>
                    <a:pt x="0" y="621538"/>
                    <a:pt x="0" y="400304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7019277" y="2396338"/>
            <a:ext cx="1330338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26637" y="2923070"/>
            <a:ext cx="4448413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validation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26637" y="3619300"/>
            <a:ext cx="4448413" cy="124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Validate schema adherence and quarantine malformed records systematically.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175760" y="1924507"/>
            <a:ext cx="5363508" cy="3708568"/>
            <a:chOff x="0" y="0"/>
            <a:chExt cx="7151345" cy="49447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51370" cy="4944745"/>
            </a:xfrm>
            <a:custGeom>
              <a:avLst/>
              <a:gdLst/>
              <a:ahLst/>
              <a:cxnLst/>
              <a:rect l="l" t="t" r="r" b="b"/>
              <a:pathLst>
                <a:path w="7151370" h="4944745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907276" y="0"/>
                  </a:lnTo>
                  <a:cubicBezTo>
                    <a:pt x="7042150" y="0"/>
                    <a:pt x="7151370" y="109220"/>
                    <a:pt x="7151370" y="243967"/>
                  </a:cubicBezTo>
                  <a:lnTo>
                    <a:pt x="7151370" y="4700778"/>
                  </a:lnTo>
                  <a:cubicBezTo>
                    <a:pt x="7151370" y="4835525"/>
                    <a:pt x="7042150" y="4944745"/>
                    <a:pt x="6907402" y="4944745"/>
                  </a:cubicBezTo>
                  <a:lnTo>
                    <a:pt x="243967" y="4944745"/>
                  </a:lnTo>
                  <a:cubicBezTo>
                    <a:pt x="109220" y="4944745"/>
                    <a:pt x="0" y="4835525"/>
                    <a:pt x="0" y="4700778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2518917" y="2229545"/>
            <a:ext cx="600532" cy="600542"/>
            <a:chOff x="0" y="0"/>
            <a:chExt cx="800710" cy="80072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00735" cy="800735"/>
            </a:xfrm>
            <a:custGeom>
              <a:avLst/>
              <a:gdLst/>
              <a:ahLst/>
              <a:cxnLst/>
              <a:rect l="l" t="t" r="r" b="b"/>
              <a:pathLst>
                <a:path w="800735" h="800735">
                  <a:moveTo>
                    <a:pt x="0" y="400304"/>
                  </a:moveTo>
                  <a:cubicBezTo>
                    <a:pt x="0" y="179197"/>
                    <a:pt x="179197" y="0"/>
                    <a:pt x="400304" y="0"/>
                  </a:cubicBezTo>
                  <a:cubicBezTo>
                    <a:pt x="621411" y="0"/>
                    <a:pt x="800735" y="179197"/>
                    <a:pt x="800735" y="400304"/>
                  </a:cubicBezTo>
                  <a:cubicBezTo>
                    <a:pt x="800735" y="621411"/>
                    <a:pt x="621411" y="800735"/>
                    <a:pt x="400304" y="800735"/>
                  </a:cubicBezTo>
                  <a:cubicBezTo>
                    <a:pt x="179197" y="800735"/>
                    <a:pt x="0" y="621538"/>
                    <a:pt x="0" y="400304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609776" y="2396338"/>
            <a:ext cx="1333767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18917" y="2923070"/>
            <a:ext cx="4677185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Outbreak signals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18917" y="3619300"/>
            <a:ext cx="4677185" cy="124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Generate experimental threshold and baseline deviation anomaly scores.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581" y="6090637"/>
            <a:ext cx="5363356" cy="3708721"/>
            <a:chOff x="0" y="0"/>
            <a:chExt cx="7151141" cy="49449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151243" cy="4944999"/>
            </a:xfrm>
            <a:custGeom>
              <a:avLst/>
              <a:gdLst/>
              <a:ahLst/>
              <a:cxnLst/>
              <a:rect l="l" t="t" r="r" b="b"/>
              <a:pathLst>
                <a:path w="7151243" h="4944999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6907149" y="0"/>
                  </a:lnTo>
                  <a:cubicBezTo>
                    <a:pt x="7041896" y="0"/>
                    <a:pt x="7151243" y="109220"/>
                    <a:pt x="7151243" y="244094"/>
                  </a:cubicBezTo>
                  <a:lnTo>
                    <a:pt x="7151243" y="4700905"/>
                  </a:lnTo>
                  <a:cubicBezTo>
                    <a:pt x="7151243" y="4835652"/>
                    <a:pt x="7042023" y="4944999"/>
                    <a:pt x="6907149" y="4944999"/>
                  </a:cubicBezTo>
                  <a:lnTo>
                    <a:pt x="244094" y="4944999"/>
                  </a:lnTo>
                  <a:cubicBezTo>
                    <a:pt x="109220" y="4944999"/>
                    <a:pt x="0" y="4835652"/>
                    <a:pt x="0" y="4700905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105738" y="6395676"/>
            <a:ext cx="600532" cy="600542"/>
            <a:chOff x="0" y="0"/>
            <a:chExt cx="800710" cy="80072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00735" cy="800735"/>
            </a:xfrm>
            <a:custGeom>
              <a:avLst/>
              <a:gdLst/>
              <a:ahLst/>
              <a:cxnLst/>
              <a:rect l="l" t="t" r="r" b="b"/>
              <a:pathLst>
                <a:path w="800735" h="800735">
                  <a:moveTo>
                    <a:pt x="0" y="400304"/>
                  </a:moveTo>
                  <a:cubicBezTo>
                    <a:pt x="0" y="179197"/>
                    <a:pt x="179197" y="0"/>
                    <a:pt x="400304" y="0"/>
                  </a:cubicBezTo>
                  <a:cubicBezTo>
                    <a:pt x="621411" y="0"/>
                    <a:pt x="800735" y="179197"/>
                    <a:pt x="800735" y="400304"/>
                  </a:cubicBezTo>
                  <a:cubicBezTo>
                    <a:pt x="800735" y="621411"/>
                    <a:pt x="621411" y="800735"/>
                    <a:pt x="400304" y="800735"/>
                  </a:cubicBezTo>
                  <a:cubicBezTo>
                    <a:pt x="179197" y="800735"/>
                    <a:pt x="0" y="621538"/>
                    <a:pt x="0" y="400304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193606" y="6562468"/>
            <a:ext cx="1339720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5738" y="7089191"/>
            <a:ext cx="4677042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Short-term forecasts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5738" y="7785430"/>
            <a:ext cx="4677042" cy="124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Produce short-term district-level case projections from historical encounter windows.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583480" y="6090637"/>
            <a:ext cx="5134737" cy="3708721"/>
            <a:chOff x="0" y="0"/>
            <a:chExt cx="6846316" cy="494496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46315" cy="4944999"/>
            </a:xfrm>
            <a:custGeom>
              <a:avLst/>
              <a:gdLst/>
              <a:ahLst/>
              <a:cxnLst/>
              <a:rect l="l" t="t" r="r" b="b"/>
              <a:pathLst>
                <a:path w="6846315" h="4944999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6602222" y="0"/>
                  </a:lnTo>
                  <a:cubicBezTo>
                    <a:pt x="6736969" y="0"/>
                    <a:pt x="6846315" y="109220"/>
                    <a:pt x="6846315" y="244094"/>
                  </a:cubicBezTo>
                  <a:lnTo>
                    <a:pt x="6846315" y="4700905"/>
                  </a:lnTo>
                  <a:cubicBezTo>
                    <a:pt x="6846315" y="4835652"/>
                    <a:pt x="6737096" y="4944999"/>
                    <a:pt x="6602222" y="4944999"/>
                  </a:cubicBezTo>
                  <a:lnTo>
                    <a:pt x="244094" y="4944999"/>
                  </a:lnTo>
                  <a:cubicBezTo>
                    <a:pt x="109220" y="4944999"/>
                    <a:pt x="0" y="4835652"/>
                    <a:pt x="0" y="4700905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6926637" y="6395676"/>
            <a:ext cx="600532" cy="600542"/>
            <a:chOff x="0" y="0"/>
            <a:chExt cx="800710" cy="80072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00735" cy="800735"/>
            </a:xfrm>
            <a:custGeom>
              <a:avLst/>
              <a:gdLst/>
              <a:ahLst/>
              <a:cxnLst/>
              <a:rect l="l" t="t" r="r" b="b"/>
              <a:pathLst>
                <a:path w="800735" h="800735">
                  <a:moveTo>
                    <a:pt x="0" y="400304"/>
                  </a:moveTo>
                  <a:cubicBezTo>
                    <a:pt x="0" y="179197"/>
                    <a:pt x="179197" y="0"/>
                    <a:pt x="400304" y="0"/>
                  </a:cubicBezTo>
                  <a:cubicBezTo>
                    <a:pt x="621411" y="0"/>
                    <a:pt x="800735" y="179197"/>
                    <a:pt x="800735" y="400304"/>
                  </a:cubicBezTo>
                  <a:cubicBezTo>
                    <a:pt x="800735" y="621411"/>
                    <a:pt x="621411" y="800735"/>
                    <a:pt x="400304" y="800735"/>
                  </a:cubicBezTo>
                  <a:cubicBezTo>
                    <a:pt x="179197" y="800735"/>
                    <a:pt x="0" y="621538"/>
                    <a:pt x="0" y="400304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7013467" y="6562468"/>
            <a:ext cx="1341958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926637" y="7089191"/>
            <a:ext cx="4448413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Seasonal planning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26637" y="7785430"/>
            <a:ext cx="4448413" cy="164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Demonstrate resource allocation models and seasonal preparedness action recommendations.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2175760" y="6090637"/>
            <a:ext cx="5363508" cy="3708721"/>
            <a:chOff x="0" y="0"/>
            <a:chExt cx="7151345" cy="494496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151370" cy="4944999"/>
            </a:xfrm>
            <a:custGeom>
              <a:avLst/>
              <a:gdLst/>
              <a:ahLst/>
              <a:cxnLst/>
              <a:rect l="l" t="t" r="r" b="b"/>
              <a:pathLst>
                <a:path w="7151370" h="4944999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6907276" y="0"/>
                  </a:lnTo>
                  <a:cubicBezTo>
                    <a:pt x="7042023" y="0"/>
                    <a:pt x="7151370" y="109220"/>
                    <a:pt x="7151370" y="244094"/>
                  </a:cubicBezTo>
                  <a:lnTo>
                    <a:pt x="7151370" y="4700905"/>
                  </a:lnTo>
                  <a:cubicBezTo>
                    <a:pt x="7151370" y="4835652"/>
                    <a:pt x="7042150" y="4944999"/>
                    <a:pt x="6907276" y="4944999"/>
                  </a:cubicBezTo>
                  <a:lnTo>
                    <a:pt x="244094" y="4944999"/>
                  </a:lnTo>
                  <a:cubicBezTo>
                    <a:pt x="109220" y="4944999"/>
                    <a:pt x="0" y="4835652"/>
                    <a:pt x="0" y="4700905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2518917" y="6395676"/>
            <a:ext cx="601866" cy="601885"/>
            <a:chOff x="0" y="0"/>
            <a:chExt cx="802488" cy="80251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02513" cy="802513"/>
            </a:xfrm>
            <a:custGeom>
              <a:avLst/>
              <a:gdLst/>
              <a:ahLst/>
              <a:cxnLst/>
              <a:rect l="l" t="t" r="r" b="b"/>
              <a:pathLst>
                <a:path w="802513" h="802513">
                  <a:moveTo>
                    <a:pt x="0" y="401193"/>
                  </a:moveTo>
                  <a:cubicBezTo>
                    <a:pt x="0" y="179705"/>
                    <a:pt x="179705" y="0"/>
                    <a:pt x="401193" y="0"/>
                  </a:cubicBezTo>
                  <a:cubicBezTo>
                    <a:pt x="622681" y="0"/>
                    <a:pt x="802513" y="179705"/>
                    <a:pt x="802513" y="401193"/>
                  </a:cubicBezTo>
                  <a:cubicBezTo>
                    <a:pt x="802513" y="622681"/>
                    <a:pt x="622808" y="802513"/>
                    <a:pt x="401193" y="802513"/>
                  </a:cubicBezTo>
                  <a:cubicBezTo>
                    <a:pt x="179578" y="802513"/>
                    <a:pt x="0" y="622808"/>
                    <a:pt x="0" y="401193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45" name="TextBox 45"/>
          <p:cNvSpPr txBox="1"/>
          <p:nvPr/>
        </p:nvSpPr>
        <p:spPr>
          <a:xfrm>
            <a:off x="12604709" y="6563058"/>
            <a:ext cx="1345387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518917" y="7090534"/>
            <a:ext cx="4677185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Interactive dashboard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518917" y="7786764"/>
            <a:ext cx="4677185" cy="124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Serve public health officers through an interactive, browser-based visual dashboard.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7701755" y="9797415"/>
            <a:ext cx="600085" cy="308762"/>
            <a:chOff x="0" y="0"/>
            <a:chExt cx="800113" cy="41168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00109" cy="411682"/>
            </a:xfrm>
            <a:custGeom>
              <a:avLst/>
              <a:gdLst/>
              <a:ahLst/>
              <a:cxnLst/>
              <a:rect l="l" t="t" r="r" b="b"/>
              <a:pathLst>
                <a:path w="800109" h="411682">
                  <a:moveTo>
                    <a:pt x="0" y="0"/>
                  </a:moveTo>
                  <a:lnTo>
                    <a:pt x="800109" y="0"/>
                  </a:lnTo>
                  <a:lnTo>
                    <a:pt x="800109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16" r="-1601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800113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6324" y="552602"/>
            <a:ext cx="17615525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DATA FLOW &amp; PIPELINES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324" y="1117864"/>
            <a:ext cx="16929354" cy="139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architecture: one main pipeline, one parallel inventory path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76789" y="3469815"/>
            <a:ext cx="16929202" cy="4164187"/>
            <a:chOff x="0" y="0"/>
            <a:chExt cx="22572269" cy="555225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2572218" cy="5552313"/>
            </a:xfrm>
            <a:custGeom>
              <a:avLst/>
              <a:gdLst/>
              <a:ahLst/>
              <a:cxnLst/>
              <a:rect l="l" t="t" r="r" b="b"/>
              <a:pathLst>
                <a:path w="22572218" h="5552313">
                  <a:moveTo>
                    <a:pt x="0" y="0"/>
                  </a:moveTo>
                  <a:lnTo>
                    <a:pt x="22572218" y="0"/>
                  </a:lnTo>
                  <a:lnTo>
                    <a:pt x="22572218" y="5552313"/>
                  </a:lnTo>
                  <a:lnTo>
                    <a:pt x="0" y="5552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1" b="-12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6785774" y="9758372"/>
            <a:ext cx="1188844" cy="35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42"/>
              </a:lnSpc>
            </a:pPr>
            <a:r>
              <a:rPr lang="en-US" sz="1801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00710" y="1466716"/>
            <a:ext cx="17501130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INFRASTRUCTURE STACK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0710" y="2032130"/>
            <a:ext cx="16700430" cy="67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Technologies and their roles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5738" y="3339360"/>
            <a:ext cx="4956743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Python and PySpark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5738" y="4024284"/>
            <a:ext cx="4956743" cy="98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Pipeline code and transformations.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72548" y="3339360"/>
            <a:ext cx="4956743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Apache Spark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72548" y="4024284"/>
            <a:ext cx="4956743" cy="98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Distributed processing of large record volumes.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39358" y="3339360"/>
            <a:ext cx="4956743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Parquet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39358" y="4024284"/>
            <a:ext cx="4956743" cy="98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Columnar storage for layered data.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5738" y="5586041"/>
            <a:ext cx="3565046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D3.js v7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5738" y="6270965"/>
            <a:ext cx="3565046" cy="98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Interactive dashboard charts.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80841" y="5586041"/>
            <a:ext cx="3565046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JSON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80841" y="6270965"/>
            <a:ext cx="3565046" cy="144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Export format between pipeline and dashboard.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55953" y="5586041"/>
            <a:ext cx="3565046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Google Colab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55953" y="6270965"/>
            <a:ext cx="3565046" cy="98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Running the experiments.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31056" y="5586041"/>
            <a:ext cx="3565046" cy="102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GitHub and GitHub Pages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31056" y="6766655"/>
            <a:ext cx="3565046" cy="98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Version control and dashboard hosting.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357985" y="3060516"/>
            <a:ext cx="19069" cy="2246681"/>
            <a:chOff x="0" y="0"/>
            <a:chExt cx="25425" cy="29955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400" cy="2995549"/>
            </a:xfrm>
            <a:custGeom>
              <a:avLst/>
              <a:gdLst/>
              <a:ahLst/>
              <a:cxnLst/>
              <a:rect l="l" t="t" r="r" b="b"/>
              <a:pathLst>
                <a:path w="25400" h="2995549">
                  <a:moveTo>
                    <a:pt x="0" y="0"/>
                  </a:moveTo>
                  <a:lnTo>
                    <a:pt x="25400" y="0"/>
                  </a:lnTo>
                  <a:lnTo>
                    <a:pt x="25400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924795" y="3060516"/>
            <a:ext cx="19069" cy="2246681"/>
            <a:chOff x="0" y="0"/>
            <a:chExt cx="25425" cy="299557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400" cy="2995549"/>
            </a:xfrm>
            <a:custGeom>
              <a:avLst/>
              <a:gdLst/>
              <a:ahLst/>
              <a:cxnLst/>
              <a:rect l="l" t="t" r="r" b="b"/>
              <a:pathLst>
                <a:path w="25400" h="2995549">
                  <a:moveTo>
                    <a:pt x="0" y="0"/>
                  </a:moveTo>
                  <a:lnTo>
                    <a:pt x="25400" y="0"/>
                  </a:lnTo>
                  <a:lnTo>
                    <a:pt x="25400" y="2995549"/>
                  </a:lnTo>
                  <a:lnTo>
                    <a:pt x="0" y="2995549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800710" y="5297662"/>
            <a:ext cx="4175103" cy="19069"/>
            <a:chOff x="0" y="0"/>
            <a:chExt cx="5566804" cy="254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566791" cy="25400"/>
            </a:xfrm>
            <a:custGeom>
              <a:avLst/>
              <a:gdLst/>
              <a:ahLst/>
              <a:cxnLst/>
              <a:rect l="l" t="t" r="r" b="b"/>
              <a:pathLst>
                <a:path w="5566791" h="25400">
                  <a:moveTo>
                    <a:pt x="0" y="0"/>
                  </a:moveTo>
                  <a:lnTo>
                    <a:pt x="5566791" y="0"/>
                  </a:lnTo>
                  <a:lnTo>
                    <a:pt x="556679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4966278" y="5307187"/>
            <a:ext cx="19069" cy="2742362"/>
            <a:chOff x="0" y="0"/>
            <a:chExt cx="25425" cy="36564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" cy="3656457"/>
            </a:xfrm>
            <a:custGeom>
              <a:avLst/>
              <a:gdLst/>
              <a:ahLst/>
              <a:cxnLst/>
              <a:rect l="l" t="t" r="r" b="b"/>
              <a:pathLst>
                <a:path w="25400" h="3656457">
                  <a:moveTo>
                    <a:pt x="0" y="0"/>
                  </a:moveTo>
                  <a:lnTo>
                    <a:pt x="25400" y="0"/>
                  </a:lnTo>
                  <a:lnTo>
                    <a:pt x="25400" y="3656457"/>
                  </a:lnTo>
                  <a:lnTo>
                    <a:pt x="0" y="3656457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4975812" y="5297662"/>
            <a:ext cx="4175103" cy="19069"/>
            <a:chOff x="0" y="0"/>
            <a:chExt cx="5566804" cy="2542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66791" cy="25400"/>
            </a:xfrm>
            <a:custGeom>
              <a:avLst/>
              <a:gdLst/>
              <a:ahLst/>
              <a:cxnLst/>
              <a:rect l="l" t="t" r="r" b="b"/>
              <a:pathLst>
                <a:path w="5566791" h="25400">
                  <a:moveTo>
                    <a:pt x="0" y="0"/>
                  </a:moveTo>
                  <a:lnTo>
                    <a:pt x="5566791" y="0"/>
                  </a:lnTo>
                  <a:lnTo>
                    <a:pt x="556679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141390" y="5307187"/>
            <a:ext cx="19069" cy="2742362"/>
            <a:chOff x="0" y="0"/>
            <a:chExt cx="25425" cy="365648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400" cy="3656457"/>
            </a:xfrm>
            <a:custGeom>
              <a:avLst/>
              <a:gdLst/>
              <a:ahLst/>
              <a:cxnLst/>
              <a:rect l="l" t="t" r="r" b="b"/>
              <a:pathLst>
                <a:path w="25400" h="3656457">
                  <a:moveTo>
                    <a:pt x="0" y="0"/>
                  </a:moveTo>
                  <a:lnTo>
                    <a:pt x="25400" y="0"/>
                  </a:lnTo>
                  <a:lnTo>
                    <a:pt x="25400" y="3656457"/>
                  </a:lnTo>
                  <a:lnTo>
                    <a:pt x="0" y="3656457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150925" y="5297662"/>
            <a:ext cx="4175103" cy="19069"/>
            <a:chOff x="0" y="0"/>
            <a:chExt cx="5566804" cy="254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566791" cy="25400"/>
            </a:xfrm>
            <a:custGeom>
              <a:avLst/>
              <a:gdLst/>
              <a:ahLst/>
              <a:cxnLst/>
              <a:rect l="l" t="t" r="r" b="b"/>
              <a:pathLst>
                <a:path w="5566791" h="25400">
                  <a:moveTo>
                    <a:pt x="0" y="0"/>
                  </a:moveTo>
                  <a:lnTo>
                    <a:pt x="5566791" y="0"/>
                  </a:lnTo>
                  <a:lnTo>
                    <a:pt x="556679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3316493" y="5307187"/>
            <a:ext cx="19069" cy="2742362"/>
            <a:chOff x="0" y="0"/>
            <a:chExt cx="25425" cy="365648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5400" cy="3656457"/>
            </a:xfrm>
            <a:custGeom>
              <a:avLst/>
              <a:gdLst/>
              <a:ahLst/>
              <a:cxnLst/>
              <a:rect l="l" t="t" r="r" b="b"/>
              <a:pathLst>
                <a:path w="25400" h="3656457">
                  <a:moveTo>
                    <a:pt x="0" y="0"/>
                  </a:moveTo>
                  <a:lnTo>
                    <a:pt x="25400" y="0"/>
                  </a:lnTo>
                  <a:lnTo>
                    <a:pt x="25400" y="3656457"/>
                  </a:lnTo>
                  <a:lnTo>
                    <a:pt x="0" y="3656457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3326027" y="5297662"/>
            <a:ext cx="4175103" cy="19069"/>
            <a:chOff x="0" y="0"/>
            <a:chExt cx="5566804" cy="2542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566791" cy="25400"/>
            </a:xfrm>
            <a:custGeom>
              <a:avLst/>
              <a:gdLst/>
              <a:ahLst/>
              <a:cxnLst/>
              <a:rect l="l" t="t" r="r" b="b"/>
              <a:pathLst>
                <a:path w="5566791" h="25400">
                  <a:moveTo>
                    <a:pt x="0" y="0"/>
                  </a:moveTo>
                  <a:lnTo>
                    <a:pt x="5566791" y="0"/>
                  </a:lnTo>
                  <a:lnTo>
                    <a:pt x="556679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F6755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697440" y="9797415"/>
            <a:ext cx="604399" cy="308762"/>
            <a:chOff x="0" y="0"/>
            <a:chExt cx="805866" cy="41168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05870" cy="411682"/>
            </a:xfrm>
            <a:custGeom>
              <a:avLst/>
              <a:gdLst/>
              <a:ahLst/>
              <a:cxnLst/>
              <a:rect l="l" t="t" r="r" b="b"/>
              <a:pathLst>
                <a:path w="805870" h="411682">
                  <a:moveTo>
                    <a:pt x="0" y="0"/>
                  </a:moveTo>
                  <a:lnTo>
                    <a:pt x="805870" y="0"/>
                  </a:lnTo>
                  <a:lnTo>
                    <a:pt x="805870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44" r="-1554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05866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62581" y="1355731"/>
            <a:ext cx="17539268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 dirty="0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MEDALLION ETL AUDIT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581" y="1921135"/>
            <a:ext cx="16776687" cy="139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Bronze, Silver, Gold: 25 million rows, 0.7% quarantined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2581" y="3064678"/>
            <a:ext cx="5287099" cy="3669249"/>
            <a:chOff x="0" y="0"/>
            <a:chExt cx="7049465" cy="48923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49389" cy="4892294"/>
            </a:xfrm>
            <a:custGeom>
              <a:avLst/>
              <a:gdLst/>
              <a:ahLst/>
              <a:cxnLst/>
              <a:rect l="l" t="t" r="r" b="b"/>
              <a:pathLst>
                <a:path w="7049389" h="4892294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805422" y="0"/>
                  </a:lnTo>
                  <a:cubicBezTo>
                    <a:pt x="6940169" y="0"/>
                    <a:pt x="7049389" y="109220"/>
                    <a:pt x="7049389" y="243967"/>
                  </a:cubicBezTo>
                  <a:lnTo>
                    <a:pt x="7049389" y="4648327"/>
                  </a:lnTo>
                  <a:cubicBezTo>
                    <a:pt x="7049389" y="4783074"/>
                    <a:pt x="6940169" y="4892294"/>
                    <a:pt x="6805422" y="4892294"/>
                  </a:cubicBezTo>
                  <a:lnTo>
                    <a:pt x="243967" y="4892294"/>
                  </a:lnTo>
                  <a:cubicBezTo>
                    <a:pt x="109220" y="4892294"/>
                    <a:pt x="0" y="4783074"/>
                    <a:pt x="0" y="4648327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43867" y="3465062"/>
            <a:ext cx="4905813" cy="36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00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TOTAL INGESTED (BRONZE)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867" y="4274172"/>
            <a:ext cx="4524527" cy="610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1"/>
              </a:lnSpc>
            </a:pPr>
            <a:r>
              <a:rPr lang="en-US" sz="5704" b="1" spc="-114">
                <a:solidFill>
                  <a:srgbClr val="0F3B2E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25,000,000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867" y="5077758"/>
            <a:ext cx="4524527" cy="124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Unfiltered raw synthetic intake logs restricted to pipeline compute boundaries.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07223" y="3064678"/>
            <a:ext cx="5287251" cy="3669249"/>
            <a:chOff x="0" y="0"/>
            <a:chExt cx="7049668" cy="48923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49643" cy="4892294"/>
            </a:xfrm>
            <a:custGeom>
              <a:avLst/>
              <a:gdLst/>
              <a:ahLst/>
              <a:cxnLst/>
              <a:rect l="l" t="t" r="r" b="b"/>
              <a:pathLst>
                <a:path w="7049643" h="4892294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805676" y="0"/>
                  </a:lnTo>
                  <a:cubicBezTo>
                    <a:pt x="6940423" y="0"/>
                    <a:pt x="7049643" y="109220"/>
                    <a:pt x="7049643" y="243967"/>
                  </a:cubicBezTo>
                  <a:lnTo>
                    <a:pt x="7049643" y="4648327"/>
                  </a:lnTo>
                  <a:cubicBezTo>
                    <a:pt x="7049643" y="4783074"/>
                    <a:pt x="6940423" y="4892294"/>
                    <a:pt x="6805676" y="4892294"/>
                  </a:cubicBezTo>
                  <a:lnTo>
                    <a:pt x="243967" y="4892294"/>
                  </a:lnTo>
                  <a:cubicBezTo>
                    <a:pt x="109220" y="4892294"/>
                    <a:pt x="0" y="4783074"/>
                    <a:pt x="0" y="4648327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888509" y="3465062"/>
            <a:ext cx="4905956" cy="36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00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VALIDATED PASS (SILVER)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88509" y="4274172"/>
            <a:ext cx="4524670" cy="610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1"/>
              </a:lnSpc>
            </a:pPr>
            <a:r>
              <a:rPr lang="en-US" sz="5704" b="1" spc="-114">
                <a:solidFill>
                  <a:srgbClr val="5E7A12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24,825,210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88509" y="5077758"/>
            <a:ext cx="4524670" cy="124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Schema-conformant, deduplicated encounter records eligible for Gold aggregates.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252017" y="3064678"/>
            <a:ext cx="5287251" cy="3669249"/>
            <a:chOff x="0" y="0"/>
            <a:chExt cx="7049668" cy="48923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49643" cy="4892294"/>
            </a:xfrm>
            <a:custGeom>
              <a:avLst/>
              <a:gdLst/>
              <a:ahLst/>
              <a:cxnLst/>
              <a:rect l="l" t="t" r="r" b="b"/>
              <a:pathLst>
                <a:path w="7049643" h="4892294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805676" y="0"/>
                  </a:lnTo>
                  <a:cubicBezTo>
                    <a:pt x="6940423" y="0"/>
                    <a:pt x="7049643" y="109220"/>
                    <a:pt x="7049643" y="243967"/>
                  </a:cubicBezTo>
                  <a:lnTo>
                    <a:pt x="7049643" y="4648327"/>
                  </a:lnTo>
                  <a:cubicBezTo>
                    <a:pt x="7049643" y="4783074"/>
                    <a:pt x="6940423" y="4892294"/>
                    <a:pt x="6805676" y="4892294"/>
                  </a:cubicBezTo>
                  <a:lnTo>
                    <a:pt x="243967" y="4892294"/>
                  </a:lnTo>
                  <a:cubicBezTo>
                    <a:pt x="109220" y="4892294"/>
                    <a:pt x="0" y="4783074"/>
                    <a:pt x="0" y="4648327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633303" y="3465062"/>
            <a:ext cx="4905956" cy="36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00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QUARANTINED ANOMALIES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33303" y="4274172"/>
            <a:ext cx="4524670" cy="610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1"/>
              </a:lnSpc>
            </a:pPr>
            <a:r>
              <a:rPr lang="en-US" sz="5704" b="1" spc="-114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174,790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33303" y="5077758"/>
            <a:ext cx="4524670" cy="124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Malformed records isolated for verification. Quarantine rate: </a:t>
            </a:r>
            <a:r>
              <a:rPr lang="en-US" sz="2326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0.69916%</a:t>
            </a:r>
            <a:r>
              <a:rPr lang="en-US" sz="23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581" y="7038965"/>
            <a:ext cx="10335444" cy="2073907"/>
            <a:chOff x="0" y="0"/>
            <a:chExt cx="13780592" cy="27652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780515" cy="2765044"/>
            </a:xfrm>
            <a:custGeom>
              <a:avLst/>
              <a:gdLst/>
              <a:ahLst/>
              <a:cxnLst/>
              <a:rect l="l" t="t" r="r" b="b"/>
              <a:pathLst>
                <a:path w="13780515" h="2765044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13536549" y="0"/>
                  </a:lnTo>
                  <a:cubicBezTo>
                    <a:pt x="13671296" y="0"/>
                    <a:pt x="13780515" y="109220"/>
                    <a:pt x="13780515" y="243967"/>
                  </a:cubicBezTo>
                  <a:lnTo>
                    <a:pt x="13780515" y="2521077"/>
                  </a:lnTo>
                  <a:cubicBezTo>
                    <a:pt x="13780515" y="2655824"/>
                    <a:pt x="13671296" y="2765044"/>
                    <a:pt x="13536549" y="2765044"/>
                  </a:cubicBezTo>
                  <a:lnTo>
                    <a:pt x="243967" y="2765044"/>
                  </a:lnTo>
                  <a:cubicBezTo>
                    <a:pt x="109220" y="2765171"/>
                    <a:pt x="0" y="2655951"/>
                    <a:pt x="0" y="2521204"/>
                  </a:cubicBezTo>
                  <a:close/>
                </a:path>
              </a:pathLst>
            </a:custGeom>
            <a:solidFill>
              <a:srgbClr val="1E4F4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105738" y="7305875"/>
            <a:ext cx="9649130" cy="1120959"/>
            <a:chOff x="0" y="0"/>
            <a:chExt cx="12865506" cy="1494612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12865481" cy="1494663"/>
            </a:xfrm>
            <a:custGeom>
              <a:avLst/>
              <a:gdLst/>
              <a:ahLst/>
              <a:cxnLst/>
              <a:rect l="l" t="t" r="r" b="b"/>
              <a:pathLst>
                <a:path w="12865481" h="1494663">
                  <a:moveTo>
                    <a:pt x="0" y="0"/>
                  </a:moveTo>
                  <a:lnTo>
                    <a:pt x="12865481" y="0"/>
                  </a:lnTo>
                  <a:lnTo>
                    <a:pt x="12865481" y="1494663"/>
                  </a:lnTo>
                  <a:lnTo>
                    <a:pt x="0" y="1494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5" b="-131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1555416" y="7363082"/>
            <a:ext cx="5983843" cy="140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Source note: Documented synthetic-data experiment results demonstrating automated pipeline schema gatekeeping.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7693716" y="9797415"/>
            <a:ext cx="608124" cy="308762"/>
            <a:chOff x="0" y="0"/>
            <a:chExt cx="810832" cy="4116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0833" cy="411682"/>
            </a:xfrm>
            <a:custGeom>
              <a:avLst/>
              <a:gdLst/>
              <a:ahLst/>
              <a:cxnLst/>
              <a:rect l="l" t="t" r="r" b="b"/>
              <a:pathLst>
                <a:path w="810833" h="411682">
                  <a:moveTo>
                    <a:pt x="0" y="0"/>
                  </a:moveTo>
                  <a:lnTo>
                    <a:pt x="810833" y="0"/>
                  </a:lnTo>
                  <a:lnTo>
                    <a:pt x="810833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143" r="-1514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10832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6324" y="1188148"/>
            <a:ext cx="7549505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DASHBOARD MODULE: EPIDEMIOLOGY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324" y="1753552"/>
            <a:ext cx="7320734" cy="211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Case Trends: Understanding Disease Activity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6324" y="4189209"/>
            <a:ext cx="1830181" cy="76114"/>
            <a:chOff x="0" y="0"/>
            <a:chExt cx="2440242" cy="1014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0305" cy="101600"/>
            </a:xfrm>
            <a:custGeom>
              <a:avLst/>
              <a:gdLst/>
              <a:ahLst/>
              <a:cxnLst/>
              <a:rect l="l" t="t" r="r" b="b"/>
              <a:pathLst>
                <a:path w="2440305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2389505" y="0"/>
                  </a:lnTo>
                  <a:cubicBezTo>
                    <a:pt x="2417572" y="0"/>
                    <a:pt x="2440305" y="22733"/>
                    <a:pt x="2440305" y="50800"/>
                  </a:cubicBezTo>
                  <a:cubicBezTo>
                    <a:pt x="2440305" y="78867"/>
                    <a:pt x="2417572" y="101600"/>
                    <a:pt x="2389505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86324" y="4558636"/>
            <a:ext cx="7320734" cy="391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Tracks weekly published disease counts across the synthetic surveillance window.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Privacy safeguard: weekly counts between 1 and 4 cases are systematically suppressed.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Dataset context: all displayed series are simulated synthetic health facility observations.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464601" y="2192464"/>
            <a:ext cx="9150925" cy="5910120"/>
            <a:chOff x="0" y="0"/>
            <a:chExt cx="12201233" cy="788016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2201271" cy="7880096"/>
            </a:xfrm>
            <a:custGeom>
              <a:avLst/>
              <a:gdLst/>
              <a:ahLst/>
              <a:cxnLst/>
              <a:rect l="l" t="t" r="r" b="b"/>
              <a:pathLst>
                <a:path w="12201271" h="7880096">
                  <a:moveTo>
                    <a:pt x="0" y="0"/>
                  </a:moveTo>
                  <a:lnTo>
                    <a:pt x="12201271" y="0"/>
                  </a:lnTo>
                  <a:lnTo>
                    <a:pt x="12201271" y="7880096"/>
                  </a:lnTo>
                  <a:lnTo>
                    <a:pt x="0" y="788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9" b="-8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720081" y="9797415"/>
            <a:ext cx="581758" cy="308762"/>
            <a:chOff x="0" y="0"/>
            <a:chExt cx="775678" cy="4116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75684" cy="411682"/>
            </a:xfrm>
            <a:custGeom>
              <a:avLst/>
              <a:gdLst/>
              <a:ahLst/>
              <a:cxnLst/>
              <a:rect l="l" t="t" r="r" b="b"/>
              <a:pathLst>
                <a:path w="775684" h="411682">
                  <a:moveTo>
                    <a:pt x="0" y="0"/>
                  </a:moveTo>
                  <a:lnTo>
                    <a:pt x="775684" y="0"/>
                  </a:lnTo>
                  <a:lnTo>
                    <a:pt x="775684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8095" r="-1809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75678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6324" y="1548441"/>
            <a:ext cx="7549505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DASHBOARD MODULE: GEOGRAPHY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324" y="2113855"/>
            <a:ext cx="7091963" cy="139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District-Level Case Comparison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6324" y="3828917"/>
            <a:ext cx="1772993" cy="76114"/>
            <a:chOff x="0" y="0"/>
            <a:chExt cx="2363991" cy="1014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4105" cy="101600"/>
            </a:xfrm>
            <a:custGeom>
              <a:avLst/>
              <a:gdLst/>
              <a:ahLst/>
              <a:cxnLst/>
              <a:rect l="l" t="t" r="r" b="b"/>
              <a:pathLst>
                <a:path w="2364105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2313305" y="0"/>
                  </a:lnTo>
                  <a:cubicBezTo>
                    <a:pt x="2341372" y="0"/>
                    <a:pt x="2364105" y="22733"/>
                    <a:pt x="2364105" y="50800"/>
                  </a:cubicBezTo>
                  <a:cubicBezTo>
                    <a:pt x="2364105" y="78867"/>
                    <a:pt x="2341372" y="101600"/>
                    <a:pt x="2313305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86324" y="4198344"/>
            <a:ext cx="7091963" cy="391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Ranks regional districts by published aggregate case counts under active UI filter parameters.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Gazipur leads the displayed benchmark ranking in current snapshot counts.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Raw count totals do not reflect population-adjusted incidence rates or confirmed regional risk.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464601" y="2192464"/>
            <a:ext cx="9150925" cy="5910120"/>
            <a:chOff x="0" y="0"/>
            <a:chExt cx="12201233" cy="788016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2201271" cy="7880096"/>
            </a:xfrm>
            <a:custGeom>
              <a:avLst/>
              <a:gdLst/>
              <a:ahLst/>
              <a:cxnLst/>
              <a:rect l="l" t="t" r="r" b="b"/>
              <a:pathLst>
                <a:path w="12201271" h="7880096">
                  <a:moveTo>
                    <a:pt x="0" y="0"/>
                  </a:moveTo>
                  <a:lnTo>
                    <a:pt x="12201271" y="0"/>
                  </a:lnTo>
                  <a:lnTo>
                    <a:pt x="12201271" y="7880096"/>
                  </a:lnTo>
                  <a:lnTo>
                    <a:pt x="0" y="788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9" b="-8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697440" y="9797415"/>
            <a:ext cx="604399" cy="308762"/>
            <a:chOff x="0" y="0"/>
            <a:chExt cx="805866" cy="4116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05870" cy="411682"/>
            </a:xfrm>
            <a:custGeom>
              <a:avLst/>
              <a:gdLst/>
              <a:ahLst/>
              <a:cxnLst/>
              <a:rect l="l" t="t" r="r" b="b"/>
              <a:pathLst>
                <a:path w="805870" h="411682">
                  <a:moveTo>
                    <a:pt x="0" y="0"/>
                  </a:moveTo>
                  <a:lnTo>
                    <a:pt x="805870" y="0"/>
                  </a:lnTo>
                  <a:lnTo>
                    <a:pt x="805870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544" r="-1554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05866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48186" y="1846031"/>
            <a:ext cx="7892672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DASHBOARD MODULE: SURVEILLANCE SIGNALS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8186" y="2411444"/>
            <a:ext cx="7511377" cy="139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Experimental Outbreak Detection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48186" y="4126506"/>
            <a:ext cx="1877692" cy="76114"/>
            <a:chOff x="0" y="0"/>
            <a:chExt cx="2503589" cy="1014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03678" cy="101600"/>
            </a:xfrm>
            <a:custGeom>
              <a:avLst/>
              <a:gdLst/>
              <a:ahLst/>
              <a:cxnLst/>
              <a:rect l="l" t="t" r="r" b="b"/>
              <a:pathLst>
                <a:path w="2503678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2452878" y="0"/>
                  </a:lnTo>
                  <a:cubicBezTo>
                    <a:pt x="2480945" y="0"/>
                    <a:pt x="2503678" y="22733"/>
                    <a:pt x="2503678" y="50800"/>
                  </a:cubicBezTo>
                  <a:cubicBezTo>
                    <a:pt x="2503678" y="78867"/>
                    <a:pt x="2480945" y="101600"/>
                    <a:pt x="2452878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48186" y="4512964"/>
            <a:ext cx="7511377" cy="124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Statistical baseline deviations flagged for review across date, district, disease, encounter count, and baseline mean.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48186" y="5902223"/>
            <a:ext cx="2351180" cy="1761420"/>
            <a:chOff x="0" y="0"/>
            <a:chExt cx="3134906" cy="23485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4868" cy="2348484"/>
            </a:xfrm>
            <a:custGeom>
              <a:avLst/>
              <a:gdLst/>
              <a:ahLst/>
              <a:cxnLst/>
              <a:rect l="l" t="t" r="r" b="b"/>
              <a:pathLst>
                <a:path w="3134868" h="2348484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2890901" y="0"/>
                  </a:lnTo>
                  <a:cubicBezTo>
                    <a:pt x="3025648" y="0"/>
                    <a:pt x="3134868" y="109220"/>
                    <a:pt x="3134868" y="243967"/>
                  </a:cubicBezTo>
                  <a:lnTo>
                    <a:pt x="3134868" y="2104517"/>
                  </a:lnTo>
                  <a:cubicBezTo>
                    <a:pt x="3134868" y="2239264"/>
                    <a:pt x="3025648" y="2348484"/>
                    <a:pt x="2890901" y="2348484"/>
                  </a:cubicBezTo>
                  <a:lnTo>
                    <a:pt x="243967" y="2348484"/>
                  </a:lnTo>
                  <a:cubicBezTo>
                    <a:pt x="109220" y="2348611"/>
                    <a:pt x="0" y="2239264"/>
                    <a:pt x="0" y="2104517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838838" y="6035688"/>
            <a:ext cx="2160537" cy="36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00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SENSITIVITY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8838" y="6642354"/>
            <a:ext cx="1969894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52.92%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228137" y="5902223"/>
            <a:ext cx="2351332" cy="1761420"/>
            <a:chOff x="0" y="0"/>
            <a:chExt cx="3135109" cy="2348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34995" cy="2348484"/>
            </a:xfrm>
            <a:custGeom>
              <a:avLst/>
              <a:gdLst/>
              <a:ahLst/>
              <a:cxnLst/>
              <a:rect l="l" t="t" r="r" b="b"/>
              <a:pathLst>
                <a:path w="3134995" h="2348484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2891028" y="0"/>
                  </a:lnTo>
                  <a:cubicBezTo>
                    <a:pt x="3025775" y="0"/>
                    <a:pt x="3134995" y="109220"/>
                    <a:pt x="3134995" y="243967"/>
                  </a:cubicBezTo>
                  <a:lnTo>
                    <a:pt x="3134995" y="2104517"/>
                  </a:lnTo>
                  <a:cubicBezTo>
                    <a:pt x="3134995" y="2239264"/>
                    <a:pt x="3025775" y="2348484"/>
                    <a:pt x="2891028" y="2348484"/>
                  </a:cubicBezTo>
                  <a:lnTo>
                    <a:pt x="243967" y="2348484"/>
                  </a:lnTo>
                  <a:cubicBezTo>
                    <a:pt x="109220" y="2348611"/>
                    <a:pt x="0" y="2239264"/>
                    <a:pt x="0" y="2104517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3418789" y="6035688"/>
            <a:ext cx="1970037" cy="71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00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FALSE POSITIVE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18789" y="6989254"/>
            <a:ext cx="1970037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4.37%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808240" y="5902223"/>
            <a:ext cx="2351332" cy="1761420"/>
            <a:chOff x="0" y="0"/>
            <a:chExt cx="3135109" cy="23485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34995" cy="2348484"/>
            </a:xfrm>
            <a:custGeom>
              <a:avLst/>
              <a:gdLst/>
              <a:ahLst/>
              <a:cxnLst/>
              <a:rect l="l" t="t" r="r" b="b"/>
              <a:pathLst>
                <a:path w="3134995" h="2348484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2891028" y="0"/>
                  </a:lnTo>
                  <a:cubicBezTo>
                    <a:pt x="3025775" y="0"/>
                    <a:pt x="3134995" y="109220"/>
                    <a:pt x="3134995" y="243967"/>
                  </a:cubicBezTo>
                  <a:lnTo>
                    <a:pt x="3134995" y="2104517"/>
                  </a:lnTo>
                  <a:cubicBezTo>
                    <a:pt x="3134995" y="2239264"/>
                    <a:pt x="3025775" y="2348484"/>
                    <a:pt x="2891028" y="2348484"/>
                  </a:cubicBezTo>
                  <a:lnTo>
                    <a:pt x="243967" y="2348484"/>
                  </a:lnTo>
                  <a:cubicBezTo>
                    <a:pt x="109220" y="2348611"/>
                    <a:pt x="0" y="2239264"/>
                    <a:pt x="0" y="2104517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5998883" y="6035688"/>
            <a:ext cx="2160680" cy="36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0000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PRECISION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98883" y="6642354"/>
            <a:ext cx="1970037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0.74%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731501" y="2097138"/>
            <a:ext cx="8960272" cy="6100762"/>
            <a:chOff x="0" y="0"/>
            <a:chExt cx="11947030" cy="813435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1947017" cy="8134350"/>
            </a:xfrm>
            <a:custGeom>
              <a:avLst/>
              <a:gdLst/>
              <a:ahLst/>
              <a:cxnLst/>
              <a:rect l="l" t="t" r="r" b="b"/>
              <a:pathLst>
                <a:path w="11947017" h="8134350">
                  <a:moveTo>
                    <a:pt x="0" y="0"/>
                  </a:moveTo>
                  <a:lnTo>
                    <a:pt x="11947017" y="0"/>
                  </a:lnTo>
                  <a:lnTo>
                    <a:pt x="11947017" y="8134350"/>
                  </a:lnTo>
                  <a:lnTo>
                    <a:pt x="0" y="813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" b="-11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7693716" y="9797415"/>
            <a:ext cx="608124" cy="308762"/>
            <a:chOff x="0" y="0"/>
            <a:chExt cx="810832" cy="41168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0833" cy="411682"/>
            </a:xfrm>
            <a:custGeom>
              <a:avLst/>
              <a:gdLst/>
              <a:ahLst/>
              <a:cxnLst/>
              <a:rect l="l" t="t" r="r" b="b"/>
              <a:pathLst>
                <a:path w="810833" h="411682">
                  <a:moveTo>
                    <a:pt x="0" y="0"/>
                  </a:moveTo>
                  <a:lnTo>
                    <a:pt x="810833" y="0"/>
                  </a:lnTo>
                  <a:lnTo>
                    <a:pt x="810833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143" r="-1514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10832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6324" y="628526"/>
            <a:ext cx="17615525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 dirty="0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DASHBOARD MODULE: LOGISTICS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324" y="1193930"/>
            <a:ext cx="16929202" cy="67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Seasonal Preparedness Planning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43867" y="1962645"/>
            <a:ext cx="16014106" cy="4384929"/>
            <a:chOff x="0" y="0"/>
            <a:chExt cx="21352142" cy="584657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1352129" cy="5846572"/>
            </a:xfrm>
            <a:custGeom>
              <a:avLst/>
              <a:gdLst/>
              <a:ahLst/>
              <a:cxnLst/>
              <a:rect l="l" t="t" r="r" b="b"/>
              <a:pathLst>
                <a:path w="21352129" h="5846572">
                  <a:moveTo>
                    <a:pt x="0" y="0"/>
                  </a:moveTo>
                  <a:lnTo>
                    <a:pt x="21352129" y="0"/>
                  </a:lnTo>
                  <a:lnTo>
                    <a:pt x="21352129" y="5846572"/>
                  </a:lnTo>
                  <a:lnTo>
                    <a:pt x="0" y="5846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3" b="-5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86324" y="6612484"/>
            <a:ext cx="16929202" cy="84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Fields:</a:t>
            </a: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District, disease, calendar month, historical case statistics, peak-month flag, and preparedness action. </a:t>
            </a:r>
            <a:r>
              <a:rPr lang="en-US" sz="2326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Example:</a:t>
            </a: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Bagerhat.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756267" y="9797415"/>
            <a:ext cx="545573" cy="308762"/>
            <a:chOff x="0" y="0"/>
            <a:chExt cx="727431" cy="4116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7426" cy="411682"/>
            </a:xfrm>
            <a:custGeom>
              <a:avLst/>
              <a:gdLst/>
              <a:ahLst/>
              <a:cxnLst/>
              <a:rect l="l" t="t" r="r" b="b"/>
              <a:pathLst>
                <a:path w="727426" h="411682">
                  <a:moveTo>
                    <a:pt x="0" y="0"/>
                  </a:moveTo>
                  <a:lnTo>
                    <a:pt x="727426" y="0"/>
                  </a:lnTo>
                  <a:lnTo>
                    <a:pt x="727426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612" r="-2261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727431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6324" y="1257043"/>
            <a:ext cx="17310487" cy="38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1951" dirty="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DASHBOARD MODULE: LOGISTICS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324" y="2240156"/>
            <a:ext cx="16776687" cy="67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Resource Allocation &amp; Readiness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6324" y="3111103"/>
            <a:ext cx="16776687" cy="84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EpiScope demonstrates allocating 100 resource units across Bangladesh's 64 districts; the output illustrates how predicted demand could inform resource planning.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6324" y="5681520"/>
            <a:ext cx="4194172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Forecast Demand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26253" y="4701988"/>
            <a:ext cx="1217590" cy="45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sz="4053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80496" y="5681520"/>
            <a:ext cx="3528257" cy="962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District-Level Weighting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74668" y="5681520"/>
            <a:ext cx="4194172" cy="102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Minimum Allocation Constraint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268839" y="5681520"/>
            <a:ext cx="4194172" cy="102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Final Resource Distribution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6324" y="6946935"/>
            <a:ext cx="16776687" cy="34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951" b="1" spc="19">
                <a:solidFill>
                  <a:srgbClr val="C5E35A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BUDGET PARAMETERS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FEA58E87-3C33-41FF-BE37-35CFE4DB41C4}"/>
              </a:ext>
            </a:extLst>
          </p:cNvPr>
          <p:cNvSpPr/>
          <p:nvPr/>
        </p:nvSpPr>
        <p:spPr>
          <a:xfrm>
            <a:off x="724423" y="4287573"/>
            <a:ext cx="4571543" cy="1317647"/>
          </a:xfrm>
          <a:prstGeom prst="chevron">
            <a:avLst/>
          </a:prstGeom>
          <a:solidFill>
            <a:srgbClr val="1E421F"/>
          </a:solidFill>
          <a:ln>
            <a:solidFill>
              <a:srgbClr val="2E5A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86324" y="7412107"/>
            <a:ext cx="16776687" cy="1587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Total allocation budget: </a:t>
            </a:r>
            <a:r>
              <a:rPr lang="en-US" sz="2326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100 units</a:t>
            </a:r>
          </a:p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Minimum allocation: </a:t>
            </a:r>
            <a:r>
              <a:rPr lang="en-US" sz="2326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0.16 units per district</a:t>
            </a:r>
          </a:p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Remaining resources are weighted according to forecast demand.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7817636" y="9797415"/>
            <a:ext cx="484203" cy="308762"/>
            <a:chOff x="0" y="0"/>
            <a:chExt cx="645604" cy="41168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5608" cy="411682"/>
            </a:xfrm>
            <a:custGeom>
              <a:avLst/>
              <a:gdLst/>
              <a:ahLst/>
              <a:cxnLst/>
              <a:rect l="l" t="t" r="r" b="b"/>
              <a:pathLst>
                <a:path w="645608" h="411682">
                  <a:moveTo>
                    <a:pt x="0" y="0"/>
                  </a:moveTo>
                  <a:lnTo>
                    <a:pt x="645608" y="0"/>
                  </a:lnTo>
                  <a:lnTo>
                    <a:pt x="645608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815" r="-3181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645604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11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27788" y="4731917"/>
            <a:ext cx="1111244" cy="45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sz="4053" dirty="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A7B20F35-C168-4169-BE9C-8956F5287768}"/>
              </a:ext>
            </a:extLst>
          </p:cNvPr>
          <p:cNvSpPr/>
          <p:nvPr/>
        </p:nvSpPr>
        <p:spPr>
          <a:xfrm>
            <a:off x="4896922" y="4287573"/>
            <a:ext cx="3910875" cy="1317647"/>
          </a:xfrm>
          <a:prstGeom prst="chevron">
            <a:avLst/>
          </a:prstGeom>
          <a:solidFill>
            <a:srgbClr val="1E421F"/>
          </a:solidFill>
          <a:ln>
            <a:solidFill>
              <a:srgbClr val="2E5A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7012D077-CAF1-41C2-9A66-480EC7666953}"/>
              </a:ext>
            </a:extLst>
          </p:cNvPr>
          <p:cNvSpPr txBox="1"/>
          <p:nvPr/>
        </p:nvSpPr>
        <p:spPr>
          <a:xfrm>
            <a:off x="6406815" y="4703275"/>
            <a:ext cx="111124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sz="4053" dirty="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747D2B45-DC9A-4B11-A925-2964D32A31C6}"/>
              </a:ext>
            </a:extLst>
          </p:cNvPr>
          <p:cNvSpPr/>
          <p:nvPr/>
        </p:nvSpPr>
        <p:spPr>
          <a:xfrm>
            <a:off x="8408753" y="4287573"/>
            <a:ext cx="3987142" cy="1317647"/>
          </a:xfrm>
          <a:prstGeom prst="chevron">
            <a:avLst/>
          </a:prstGeom>
          <a:solidFill>
            <a:srgbClr val="1E421F"/>
          </a:solidFill>
          <a:ln>
            <a:solidFill>
              <a:srgbClr val="2E5A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2D0E9C0E-27CE-44DD-AC18-9E8889766A35}"/>
              </a:ext>
            </a:extLst>
          </p:cNvPr>
          <p:cNvSpPr txBox="1"/>
          <p:nvPr/>
        </p:nvSpPr>
        <p:spPr>
          <a:xfrm>
            <a:off x="10524787" y="4703275"/>
            <a:ext cx="111124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sz="4053" dirty="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883FDAF6-DDC3-4349-AE35-72033C4E224A}"/>
              </a:ext>
            </a:extLst>
          </p:cNvPr>
          <p:cNvSpPr/>
          <p:nvPr/>
        </p:nvSpPr>
        <p:spPr>
          <a:xfrm>
            <a:off x="11996852" y="4287573"/>
            <a:ext cx="4571543" cy="1317647"/>
          </a:xfrm>
          <a:prstGeom prst="chevron">
            <a:avLst/>
          </a:prstGeom>
          <a:solidFill>
            <a:srgbClr val="1E421F"/>
          </a:solidFill>
          <a:ln>
            <a:solidFill>
              <a:srgbClr val="2E5A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DC8280A5-0AF4-426D-90A0-BBE9F9CCEE44}"/>
              </a:ext>
            </a:extLst>
          </p:cNvPr>
          <p:cNvSpPr txBox="1"/>
          <p:nvPr/>
        </p:nvSpPr>
        <p:spPr>
          <a:xfrm>
            <a:off x="14642759" y="4703275"/>
            <a:ext cx="111124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sz="4053" dirty="0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6324" y="1032434"/>
            <a:ext cx="17615525" cy="38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1951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ANALYTICS &amp;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324" y="2015547"/>
            <a:ext cx="17081716" cy="67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Short-Term Case Forecasting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6324" y="2886494"/>
            <a:ext cx="17615525" cy="44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A seven-day-average baseline repeated across a fixed 28-day forecast horizon (December 4–31, 2025).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86324" y="3554263"/>
            <a:ext cx="5388826" cy="2566464"/>
            <a:chOff x="0" y="0"/>
            <a:chExt cx="7185101" cy="34219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85025" cy="3421888"/>
            </a:xfrm>
            <a:custGeom>
              <a:avLst/>
              <a:gdLst/>
              <a:ahLst/>
              <a:cxnLst/>
              <a:rect l="l" t="t" r="r" b="b"/>
              <a:pathLst>
                <a:path w="7185025" h="3421888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941058" y="0"/>
                  </a:lnTo>
                  <a:cubicBezTo>
                    <a:pt x="7075805" y="0"/>
                    <a:pt x="7185025" y="109220"/>
                    <a:pt x="7185025" y="243967"/>
                  </a:cubicBezTo>
                  <a:lnTo>
                    <a:pt x="7185025" y="3177921"/>
                  </a:lnTo>
                  <a:cubicBezTo>
                    <a:pt x="7185025" y="3312668"/>
                    <a:pt x="7075805" y="3421888"/>
                    <a:pt x="6941058" y="3421888"/>
                  </a:cubicBezTo>
                  <a:lnTo>
                    <a:pt x="243967" y="3421888"/>
                  </a:lnTo>
                  <a:cubicBezTo>
                    <a:pt x="109220" y="3421888"/>
                    <a:pt x="0" y="3312668"/>
                    <a:pt x="0" y="3177921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29481" y="3840251"/>
            <a:ext cx="5045669" cy="36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0F3B2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OBSERVATIONS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9481" y="4620778"/>
            <a:ext cx="4702502" cy="55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3"/>
              </a:lnSpc>
            </a:pPr>
            <a:r>
              <a:rPr lang="en-US" sz="5103" b="1" spc="-102">
                <a:solidFill>
                  <a:srgbClr val="0F3B2E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8,960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481" y="5376691"/>
            <a:ext cx="5045669" cy="44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Synthetic-data test observations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32693" y="3554263"/>
            <a:ext cx="5388826" cy="2566464"/>
            <a:chOff x="0" y="0"/>
            <a:chExt cx="7185101" cy="34219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185025" cy="3421888"/>
            </a:xfrm>
            <a:custGeom>
              <a:avLst/>
              <a:gdLst/>
              <a:ahLst/>
              <a:cxnLst/>
              <a:rect l="l" t="t" r="r" b="b"/>
              <a:pathLst>
                <a:path w="7185025" h="3421888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941058" y="0"/>
                  </a:lnTo>
                  <a:cubicBezTo>
                    <a:pt x="7075805" y="0"/>
                    <a:pt x="7185025" y="109220"/>
                    <a:pt x="7185025" y="243967"/>
                  </a:cubicBezTo>
                  <a:lnTo>
                    <a:pt x="7185025" y="3177921"/>
                  </a:lnTo>
                  <a:cubicBezTo>
                    <a:pt x="7185025" y="3312668"/>
                    <a:pt x="7075805" y="3421888"/>
                    <a:pt x="6941058" y="3421888"/>
                  </a:cubicBezTo>
                  <a:lnTo>
                    <a:pt x="243967" y="3421888"/>
                  </a:lnTo>
                  <a:cubicBezTo>
                    <a:pt x="109220" y="3421888"/>
                    <a:pt x="0" y="3312668"/>
                    <a:pt x="0" y="3177921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6875850" y="3840251"/>
            <a:ext cx="5045669" cy="36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0F3B2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MEAN ABSOLUTE ERROR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75850" y="4620778"/>
            <a:ext cx="4702502" cy="55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3"/>
              </a:lnSpc>
            </a:pPr>
            <a:r>
              <a:rPr lang="en-US" sz="5103" b="1" spc="-102">
                <a:solidFill>
                  <a:srgbClr val="0F3B2E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2.0182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75850" y="5376691"/>
            <a:ext cx="5045669" cy="44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Average absolute error in cases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379061" y="3554263"/>
            <a:ext cx="5388826" cy="2566464"/>
            <a:chOff x="0" y="0"/>
            <a:chExt cx="7185101" cy="34219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85025" cy="3421888"/>
            </a:xfrm>
            <a:custGeom>
              <a:avLst/>
              <a:gdLst/>
              <a:ahLst/>
              <a:cxnLst/>
              <a:rect l="l" t="t" r="r" b="b"/>
              <a:pathLst>
                <a:path w="7185025" h="3421888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6941058" y="0"/>
                  </a:lnTo>
                  <a:cubicBezTo>
                    <a:pt x="7075805" y="0"/>
                    <a:pt x="7185025" y="109220"/>
                    <a:pt x="7185025" y="243967"/>
                  </a:cubicBezTo>
                  <a:lnTo>
                    <a:pt x="7185025" y="3177921"/>
                  </a:lnTo>
                  <a:cubicBezTo>
                    <a:pt x="7185025" y="3312668"/>
                    <a:pt x="7075805" y="3421888"/>
                    <a:pt x="6941058" y="3421888"/>
                  </a:cubicBezTo>
                  <a:lnTo>
                    <a:pt x="243967" y="3421888"/>
                  </a:lnTo>
                  <a:cubicBezTo>
                    <a:pt x="109220" y="3421888"/>
                    <a:pt x="0" y="3312668"/>
                    <a:pt x="0" y="3177921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722219" y="3840251"/>
            <a:ext cx="5045669" cy="36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0F3B2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ROOT MEAN SQUARED ERROR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22219" y="4620778"/>
            <a:ext cx="4702502" cy="55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3"/>
              </a:lnSpc>
            </a:pPr>
            <a:r>
              <a:rPr lang="en-US" sz="5103" b="1" spc="-102">
                <a:solidFill>
                  <a:srgbClr val="0F3B2E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2.6986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22219" y="5376691"/>
            <a:ext cx="5045669" cy="44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Penalizes larger forecast errors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6324" y="6425736"/>
            <a:ext cx="1261824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86324" y="6868125"/>
            <a:ext cx="3755688" cy="28594"/>
            <a:chOff x="0" y="0"/>
            <a:chExt cx="5007585" cy="381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007610" cy="38100"/>
            </a:xfrm>
            <a:custGeom>
              <a:avLst/>
              <a:gdLst/>
              <a:ahLst/>
              <a:cxnLst/>
              <a:rect l="l" t="t" r="r" b="b"/>
              <a:pathLst>
                <a:path w="5007610" h="38100">
                  <a:moveTo>
                    <a:pt x="0" y="0"/>
                  </a:moveTo>
                  <a:lnTo>
                    <a:pt x="5007610" y="0"/>
                  </a:lnTo>
                  <a:lnTo>
                    <a:pt x="50076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686324" y="7076380"/>
            <a:ext cx="3755688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Prior 7 Days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6324" y="7772619"/>
            <a:ext cx="3755688" cy="44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Synthetic cases window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28327" y="6425736"/>
            <a:ext cx="1330338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128327" y="6868125"/>
            <a:ext cx="3755688" cy="28594"/>
            <a:chOff x="0" y="0"/>
            <a:chExt cx="5007585" cy="3812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07610" cy="38100"/>
            </a:xfrm>
            <a:custGeom>
              <a:avLst/>
              <a:gdLst/>
              <a:ahLst/>
              <a:cxnLst/>
              <a:rect l="l" t="t" r="r" b="b"/>
              <a:pathLst>
                <a:path w="5007610" h="38100">
                  <a:moveTo>
                    <a:pt x="0" y="0"/>
                  </a:moveTo>
                  <a:lnTo>
                    <a:pt x="5007610" y="0"/>
                  </a:lnTo>
                  <a:lnTo>
                    <a:pt x="50076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5128327" y="7076380"/>
            <a:ext cx="3755688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Calculate Mean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28327" y="7772619"/>
            <a:ext cx="3755688" cy="44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Rolling window average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70339" y="6425736"/>
            <a:ext cx="1333767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570339" y="6868125"/>
            <a:ext cx="3755688" cy="28594"/>
            <a:chOff x="0" y="0"/>
            <a:chExt cx="5007585" cy="381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007610" cy="38100"/>
            </a:xfrm>
            <a:custGeom>
              <a:avLst/>
              <a:gdLst/>
              <a:ahLst/>
              <a:cxnLst/>
              <a:rect l="l" t="t" r="r" b="b"/>
              <a:pathLst>
                <a:path w="5007610" h="38100">
                  <a:moveTo>
                    <a:pt x="0" y="0"/>
                  </a:moveTo>
                  <a:lnTo>
                    <a:pt x="5007610" y="0"/>
                  </a:lnTo>
                  <a:lnTo>
                    <a:pt x="50076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9570339" y="7076380"/>
            <a:ext cx="3755688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Project Horizon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570339" y="7772619"/>
            <a:ext cx="3755688" cy="44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Repeat across 28 days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012342" y="6425736"/>
            <a:ext cx="1339720" cy="30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702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4012342" y="6868125"/>
            <a:ext cx="3755688" cy="28594"/>
            <a:chOff x="0" y="0"/>
            <a:chExt cx="5007585" cy="381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007610" cy="38100"/>
            </a:xfrm>
            <a:custGeom>
              <a:avLst/>
              <a:gdLst/>
              <a:ahLst/>
              <a:cxnLst/>
              <a:rect l="l" t="t" r="r" b="b"/>
              <a:pathLst>
                <a:path w="5007610" h="38100">
                  <a:moveTo>
                    <a:pt x="0" y="0"/>
                  </a:moveTo>
                  <a:lnTo>
                    <a:pt x="5007610" y="0"/>
                  </a:lnTo>
                  <a:lnTo>
                    <a:pt x="500761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14012342" y="7076380"/>
            <a:ext cx="3755688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Test Evaluation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012342" y="7772619"/>
            <a:ext cx="3755688" cy="84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Score against test ground truth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7764763" y="9797415"/>
            <a:ext cx="537077" cy="308762"/>
            <a:chOff x="0" y="0"/>
            <a:chExt cx="716102" cy="41168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16107" cy="411682"/>
            </a:xfrm>
            <a:custGeom>
              <a:avLst/>
              <a:gdLst/>
              <a:ahLst/>
              <a:cxnLst/>
              <a:rect l="l" t="t" r="r" b="b"/>
              <a:pathLst>
                <a:path w="716107" h="411682">
                  <a:moveTo>
                    <a:pt x="0" y="0"/>
                  </a:moveTo>
                  <a:lnTo>
                    <a:pt x="716107" y="0"/>
                  </a:lnTo>
                  <a:lnTo>
                    <a:pt x="716107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760" r="-2376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716102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6324" y="648005"/>
            <a:ext cx="17615525" cy="38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1951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DATA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324" y="1631128"/>
            <a:ext cx="16929202" cy="67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Privacy by Design - With Clear Boundaries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6324" y="2523134"/>
            <a:ext cx="16929202" cy="71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Internal Encounter Data → Validation &amp; Identifier Handling → Aggregation &amp; Small-Count Suppression → Public Dashboard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6324" y="3461452"/>
            <a:ext cx="8235829" cy="651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9"/>
              </a:lnSpc>
            </a:pPr>
            <a:r>
              <a:rPr lang="en-US" sz="36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Controls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6324" y="4254941"/>
            <a:ext cx="8235829" cy="399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Identifier hashing: </a:t>
            </a: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Patient IDs hashed in Silver data.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Restricted access:</a:t>
            </a: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Bronze and quarantine data protected.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Count suppression:</a:t>
            </a: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Public counts of 1–4 hidden.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Data aggregation:</a:t>
            </a: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Only aggregated data published.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79696" y="3461452"/>
            <a:ext cx="8235829" cy="651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9"/>
              </a:lnSpc>
            </a:pPr>
            <a:r>
              <a:rPr lang="en-US" sz="36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Remaining Risks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79696" y="4254941"/>
            <a:ext cx="8235829" cy="152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Suppression cannot eliminate re-identification risks.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No formal differential privacy guarantee exists.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9696" y="5892441"/>
            <a:ext cx="8235829" cy="161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endParaRPr/>
          </a:p>
          <a:p>
            <a:pPr algn="l">
              <a:lnSpc>
                <a:spcPts val="3664"/>
              </a:lnSpc>
            </a:pPr>
            <a:r>
              <a:rPr lang="en-US" sz="2702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Takeaway: Further privacy testing and security assessment are needed before deployment.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764458" y="9797415"/>
            <a:ext cx="537381" cy="308762"/>
            <a:chOff x="0" y="0"/>
            <a:chExt cx="716509" cy="41168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16504" cy="411682"/>
            </a:xfrm>
            <a:custGeom>
              <a:avLst/>
              <a:gdLst/>
              <a:ahLst/>
              <a:cxnLst/>
              <a:rect l="l" t="t" r="r" b="b"/>
              <a:pathLst>
                <a:path w="716504" h="411682">
                  <a:moveTo>
                    <a:pt x="0" y="0"/>
                  </a:moveTo>
                  <a:lnTo>
                    <a:pt x="716504" y="0"/>
                  </a:lnTo>
                  <a:lnTo>
                    <a:pt x="716504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719" r="-2372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16509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6324" y="469868"/>
            <a:ext cx="17615525" cy="38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1951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EXPERIMENTAL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324" y="1452982"/>
            <a:ext cx="17081716" cy="67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What We Learned - And What Comes Next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6324" y="2344998"/>
            <a:ext cx="17081716" cy="71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101" b="1" spc="21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Benchmark: </a:t>
            </a:r>
            <a:r>
              <a:rPr lang="en-US" sz="2101" b="1" spc="21">
                <a:solidFill>
                  <a:srgbClr val="A8C4B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25M synthetic rows</a:t>
            </a:r>
            <a:r>
              <a:rPr lang="en-US" sz="2101" b="1" spc="21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· Pipeline runtime: </a:t>
            </a:r>
            <a:r>
              <a:rPr lang="en-US" sz="2101" b="1" spc="21">
                <a:solidFill>
                  <a:srgbClr val="A8C4B7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~27.40 min</a:t>
            </a:r>
            <a:r>
              <a:rPr lang="en-US" sz="2101" b="1" spc="21">
                <a:solidFill>
                  <a:srgbClr val="A8C4B7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(data gen: ~7.17 min excluded) · Environment-dependent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86324" y="3324739"/>
            <a:ext cx="8197701" cy="6462103"/>
            <a:chOff x="0" y="0"/>
            <a:chExt cx="10930268" cy="86161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30255" cy="8616061"/>
            </a:xfrm>
            <a:custGeom>
              <a:avLst/>
              <a:gdLst/>
              <a:ahLst/>
              <a:cxnLst/>
              <a:rect l="l" t="t" r="r" b="b"/>
              <a:pathLst>
                <a:path w="10930255" h="8616061">
                  <a:moveTo>
                    <a:pt x="0" y="243967"/>
                  </a:moveTo>
                  <a:cubicBezTo>
                    <a:pt x="0" y="109220"/>
                    <a:pt x="109220" y="0"/>
                    <a:pt x="243967" y="0"/>
                  </a:cubicBezTo>
                  <a:lnTo>
                    <a:pt x="10686288" y="0"/>
                  </a:lnTo>
                  <a:cubicBezTo>
                    <a:pt x="10821035" y="0"/>
                    <a:pt x="10930255" y="109220"/>
                    <a:pt x="10930255" y="243967"/>
                  </a:cubicBezTo>
                  <a:lnTo>
                    <a:pt x="10930255" y="8372094"/>
                  </a:lnTo>
                  <a:cubicBezTo>
                    <a:pt x="10930255" y="8506840"/>
                    <a:pt x="10821035" y="8616061"/>
                    <a:pt x="10686288" y="8616061"/>
                  </a:cubicBezTo>
                  <a:lnTo>
                    <a:pt x="243967" y="8616061"/>
                  </a:lnTo>
                  <a:cubicBezTo>
                    <a:pt x="109220" y="8616188"/>
                    <a:pt x="0" y="8506841"/>
                    <a:pt x="0" y="8372094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67610" y="3641722"/>
            <a:ext cx="7435120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Current Limitations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67610" y="4461481"/>
            <a:ext cx="7435120" cy="47511"/>
            <a:chOff x="0" y="0"/>
            <a:chExt cx="9913493" cy="633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13493" cy="63247"/>
            </a:xfrm>
            <a:custGeom>
              <a:avLst/>
              <a:gdLst/>
              <a:ahLst/>
              <a:cxnLst/>
              <a:rect l="l" t="t" r="r" b="b"/>
              <a:pathLst>
                <a:path w="9913493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9881870" y="0"/>
                  </a:lnTo>
                  <a:cubicBezTo>
                    <a:pt x="9899396" y="0"/>
                    <a:pt x="9913493" y="14224"/>
                    <a:pt x="9913493" y="31623"/>
                  </a:cubicBezTo>
                  <a:cubicBezTo>
                    <a:pt x="9913493" y="49149"/>
                    <a:pt x="9899269" y="63246"/>
                    <a:pt x="9881870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0F3B2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67610" y="4716513"/>
            <a:ext cx="7435120" cy="4727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Synthetic Data:</a:t>
            </a:r>
            <a:r>
              <a:rPr lang="en-US" sz="25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Real-world efficacy unverified.</a:t>
            </a:r>
          </a:p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Low Precision:</a:t>
            </a:r>
            <a:r>
              <a:rPr lang="en-US" sz="25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0.74% with many false positives.</a:t>
            </a:r>
          </a:p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Simple Forecast:</a:t>
            </a:r>
            <a:r>
              <a:rPr lang="en-US" sz="25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Seasonal baseline comparison needed.</a:t>
            </a:r>
          </a:p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Disconnected Inventory:</a:t>
            </a:r>
            <a:r>
              <a:rPr lang="en-US" sz="25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Not linked to allocation.</a:t>
            </a:r>
          </a:p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Validation Gaps:</a:t>
            </a:r>
            <a:r>
              <a:rPr lang="en-US" sz="25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Privacy and reproducibility audits needed.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51625" y="3641722"/>
            <a:ext cx="7435120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Future Improvements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51625" y="4461481"/>
            <a:ext cx="7435120" cy="47511"/>
            <a:chOff x="0" y="0"/>
            <a:chExt cx="9913493" cy="633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13493" cy="63247"/>
            </a:xfrm>
            <a:custGeom>
              <a:avLst/>
              <a:gdLst/>
              <a:ahLst/>
              <a:cxnLst/>
              <a:rect l="l" t="t" r="r" b="b"/>
              <a:pathLst>
                <a:path w="9913493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9881870" y="0"/>
                  </a:lnTo>
                  <a:cubicBezTo>
                    <a:pt x="9899396" y="0"/>
                    <a:pt x="9913493" y="14224"/>
                    <a:pt x="9913493" y="31623"/>
                  </a:cubicBezTo>
                  <a:cubicBezTo>
                    <a:pt x="9913493" y="49149"/>
                    <a:pt x="9899269" y="63246"/>
                    <a:pt x="9881870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C5E35A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951625" y="4716513"/>
            <a:ext cx="7435120" cy="4289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Real Data:</a:t>
            </a:r>
            <a:r>
              <a:rPr lang="en-US" sz="2551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Validate with authorized clinical data.</a:t>
            </a:r>
          </a:p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Better Alerts:</a:t>
            </a:r>
            <a:r>
              <a:rPr lang="en-US" sz="2551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Improve precision and sensitivity.</a:t>
            </a:r>
          </a:p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Forecasting:</a:t>
            </a:r>
            <a:r>
              <a:rPr lang="en-US" sz="2551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Test seasonal models and longer horizons.</a:t>
            </a:r>
          </a:p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Privacy Audits:</a:t>
            </a:r>
            <a:r>
              <a:rPr lang="en-US" sz="2551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Test disclosure risks.</a:t>
            </a:r>
          </a:p>
          <a:p>
            <a:pPr marL="462207" lvl="1" indent="-231104" algn="l">
              <a:lnSpc>
                <a:spcPts val="3429"/>
              </a:lnSpc>
              <a:buFont typeface="Arial"/>
              <a:buChar char="•"/>
            </a:pPr>
            <a:r>
              <a:rPr lang="en-US" sz="2551" b="1">
                <a:solidFill>
                  <a:srgbClr val="E3EEE7"/>
                </a:solidFill>
                <a:latin typeface="Arimo Bold"/>
                <a:ea typeface="Arimo Bold"/>
                <a:cs typeface="Arimo Bold"/>
                <a:sym typeface="Arimo Bold"/>
              </a:rPr>
              <a:t>Inventory Integration:</a:t>
            </a:r>
            <a:r>
              <a:rPr lang="en-US" sz="2551">
                <a:solidFill>
                  <a:srgbClr val="E3EEE7"/>
                </a:solidFill>
                <a:latin typeface="Arimo"/>
                <a:ea typeface="Arimo"/>
                <a:cs typeface="Arimo"/>
                <a:sym typeface="Arimo"/>
              </a:rPr>
              <a:t> Connect hospital stock and bed data.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7762525" y="9797415"/>
            <a:ext cx="539315" cy="308762"/>
            <a:chOff x="0" y="0"/>
            <a:chExt cx="719087" cy="4116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9086" cy="411682"/>
            </a:xfrm>
            <a:custGeom>
              <a:avLst/>
              <a:gdLst/>
              <a:ahLst/>
              <a:cxnLst/>
              <a:rect l="l" t="t" r="r" b="b"/>
              <a:pathLst>
                <a:path w="719086" h="411682">
                  <a:moveTo>
                    <a:pt x="0" y="0"/>
                  </a:moveTo>
                  <a:lnTo>
                    <a:pt x="719086" y="0"/>
                  </a:lnTo>
                  <a:lnTo>
                    <a:pt x="719086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454" r="-2345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719087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86324" y="1964674"/>
            <a:ext cx="17615525" cy="38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1951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324" y="2947787"/>
            <a:ext cx="17081716" cy="139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5404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From Big Data Processing to Public Health Preparedness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6324" y="4579449"/>
            <a:ext cx="17081716" cy="3712588"/>
            <a:chOff x="0" y="0"/>
            <a:chExt cx="22775621" cy="49501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75672" cy="4950206"/>
            </a:xfrm>
            <a:custGeom>
              <a:avLst/>
              <a:gdLst/>
              <a:ahLst/>
              <a:cxnLst/>
              <a:rect l="l" t="t" r="r" b="b"/>
              <a:pathLst>
                <a:path w="22775672" h="4950206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22531578" y="0"/>
                  </a:lnTo>
                  <a:cubicBezTo>
                    <a:pt x="22666325" y="0"/>
                    <a:pt x="22775672" y="109220"/>
                    <a:pt x="22775672" y="244094"/>
                  </a:cubicBezTo>
                  <a:lnTo>
                    <a:pt x="22775672" y="4706112"/>
                  </a:lnTo>
                  <a:cubicBezTo>
                    <a:pt x="22775672" y="4840859"/>
                    <a:pt x="22666452" y="4950206"/>
                    <a:pt x="22531578" y="4950206"/>
                  </a:cubicBezTo>
                  <a:lnTo>
                    <a:pt x="244094" y="4950206"/>
                  </a:lnTo>
                  <a:cubicBezTo>
                    <a:pt x="109220" y="4950079"/>
                    <a:pt x="0" y="4840859"/>
                    <a:pt x="0" y="4706112"/>
                  </a:cubicBezTo>
                  <a:close/>
                </a:path>
              </a:pathLst>
            </a:custGeom>
            <a:solidFill>
              <a:srgbClr val="F7FAF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53224" y="4743907"/>
            <a:ext cx="16547916" cy="53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002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system Deliverables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3224" y="5423116"/>
            <a:ext cx="16547916" cy="267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Bronze–Silver–Gold big-data processing workflow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Documented 25-million-row synthetic encounter dataset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Experimental outbreak-signal generation and short-term forecasting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District comparison, resource allocation, and seasonal preparedness outputs</a:t>
            </a:r>
          </a:p>
          <a:p>
            <a:pPr marL="489395" lvl="1" indent="-244697" algn="l">
              <a:lnSpc>
                <a:spcPts val="3664"/>
              </a:lnSpc>
              <a:buFont typeface="Arial"/>
              <a:buChar char="•"/>
            </a:pPr>
            <a:r>
              <a:rPr lang="en-US" sz="2702">
                <a:solidFill>
                  <a:srgbClr val="0F3B2E"/>
                </a:solidFill>
                <a:latin typeface="Arimo"/>
                <a:ea typeface="Arimo"/>
                <a:cs typeface="Arimo"/>
                <a:sym typeface="Arimo"/>
              </a:rPr>
              <a:t>Interactive D3.js dashboard.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761487" y="9797415"/>
            <a:ext cx="540353" cy="308762"/>
            <a:chOff x="0" y="0"/>
            <a:chExt cx="720471" cy="4116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0477" cy="411682"/>
            </a:xfrm>
            <a:custGeom>
              <a:avLst/>
              <a:gdLst/>
              <a:ahLst/>
              <a:cxnLst/>
              <a:rect l="l" t="t" r="r" b="b"/>
              <a:pathLst>
                <a:path w="720477" h="411682">
                  <a:moveTo>
                    <a:pt x="0" y="0"/>
                  </a:moveTo>
                  <a:lnTo>
                    <a:pt x="720477" y="0"/>
                  </a:lnTo>
                  <a:lnTo>
                    <a:pt x="720477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313" r="-2331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20471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648462" y="4000500"/>
            <a:ext cx="8991076" cy="184665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14353"/>
              </a:lnSpc>
            </a:pPr>
            <a:r>
              <a:rPr lang="en-US" sz="14411" spc="-288" dirty="0">
                <a:solidFill>
                  <a:srgbClr val="C5E35A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760144" y="9797415"/>
            <a:ext cx="541696" cy="308762"/>
            <a:chOff x="0" y="0"/>
            <a:chExt cx="722262" cy="4116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2264" cy="411682"/>
            </a:xfrm>
            <a:custGeom>
              <a:avLst/>
              <a:gdLst/>
              <a:ahLst/>
              <a:cxnLst/>
              <a:rect l="l" t="t" r="r" b="b"/>
              <a:pathLst>
                <a:path w="722264" h="411682">
                  <a:moveTo>
                    <a:pt x="0" y="0"/>
                  </a:moveTo>
                  <a:lnTo>
                    <a:pt x="722264" y="0"/>
                  </a:lnTo>
                  <a:lnTo>
                    <a:pt x="722264" y="411682"/>
                  </a:lnTo>
                  <a:lnTo>
                    <a:pt x="0" y="411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131" r="-2313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22262" cy="459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2"/>
                </a:lnSpc>
              </a:pPr>
              <a:r>
                <a:rPr lang="en-US" sz="1801">
                  <a:solidFill>
                    <a:srgbClr val="E3EEE7"/>
                  </a:solidFill>
                  <a:latin typeface="Arimo"/>
                  <a:ea typeface="Arimo"/>
                  <a:cs typeface="Arimo"/>
                  <a:sym typeface="Arimo"/>
                </a:rPr>
                <a:t>16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1247</Words>
  <Application>Microsoft Office PowerPoint</Application>
  <PresentationFormat>Custom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Arimo</vt:lpstr>
      <vt:lpstr>Arial</vt:lpstr>
      <vt:lpstr>Arimo Bold</vt:lpstr>
      <vt:lpstr>Roboto Mono Medium</vt:lpstr>
      <vt:lpstr>Calibri</vt:lpstr>
      <vt:lpstr>Roboto Mono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EpiScope-Public-Health-Surveillance-and-Preparedness-Dashboard.pptx</dc:title>
  <cp:lastModifiedBy>Maha Sayem</cp:lastModifiedBy>
  <cp:revision>3</cp:revision>
  <dcterms:created xsi:type="dcterms:W3CDTF">2006-08-16T00:00:00Z</dcterms:created>
  <dcterms:modified xsi:type="dcterms:W3CDTF">2026-10-25T13:15:41Z</dcterms:modified>
  <dc:identifier>DAHZBSWw5Vk</dc:identifier>
</cp:coreProperties>
</file>